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9" r:id="rId5"/>
    <p:sldId id="260" r:id="rId6"/>
    <p:sldId id="261" r:id="rId7"/>
    <p:sldId id="270" r:id="rId8"/>
    <p:sldId id="262" r:id="rId9"/>
    <p:sldId id="266" r:id="rId10"/>
    <p:sldId id="271" r:id="rId11"/>
    <p:sldId id="272" r:id="rId12"/>
    <p:sldId id="258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5033" autoAdjust="0"/>
  </p:normalViewPr>
  <p:slideViewPr>
    <p:cSldViewPr snapToGrid="0" snapToObjects="1">
      <p:cViewPr varScale="1">
        <p:scale>
          <a:sx n="77" d="100"/>
          <a:sy n="77" d="100"/>
        </p:scale>
        <p:origin x="72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128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6DAE4-E1CA-0613-E9A3-FE5BD2ED7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DAFD5-F58A-87A1-4F0C-EEAEA99A9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71EF7-84F4-745D-AAD2-C978145DB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27931-68BC-6831-9372-89BC1F61B3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52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EFBA5-58E2-AD2B-5990-71347827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A992D-8DCD-035B-5713-5187A27FA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902AB-BB04-0228-AA4C-B28655A9B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86C3D-AE47-BF17-1BFA-068228E7E5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74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7A8D4-D1EA-93A0-9073-20873FF3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FF86CF-0C26-EAB9-C4E2-F069A970D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D1A31-CADA-4546-9CBF-16FF0C0E3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72375-51A0-BEC2-080C-3D8FF1CD3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37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46E3A-CA2E-FD41-C1B2-64C78B711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05B26-258B-76F6-FCEE-06347C9B5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B62BF-5159-76F2-69F6-D5112876C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621AA-BA04-E623-E151-58B36FE021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150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1417320" cy="109728"/>
          </a:xfrm>
          <a:prstGeom prst="roundRect">
            <a:avLst/>
          </a:prstGeom>
          <a:solidFill>
            <a:srgbClr val="49D6AD"/>
          </a:solidFill>
          <a:ln w="1270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5100" b="1" dirty="0">
                <a:solidFill>
                  <a:srgbClr val="F7FAFC"/>
                </a:solidFill>
              </a:rPr>
              <a:t>KALÓRIASZÁMLÁLÓ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749808" y="2743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49D6AD"/>
                </a:solidFill>
              </a:rPr>
              <a:t>Egyszerű kalória- és </a:t>
            </a:r>
            <a:r>
              <a:rPr lang="en-US" sz="2500" dirty="0" err="1">
                <a:solidFill>
                  <a:srgbClr val="49D6AD"/>
                </a:solidFill>
              </a:rPr>
              <a:t>tápanyagkövető</a:t>
            </a:r>
            <a:r>
              <a:rPr lang="en-US" sz="2500" dirty="0">
                <a:solidFill>
                  <a:srgbClr val="49D6AD"/>
                </a:solidFill>
              </a:rPr>
              <a:t> </a:t>
            </a:r>
            <a:r>
              <a:rPr lang="hu-HU" sz="2500" dirty="0">
                <a:solidFill>
                  <a:srgbClr val="49D6AD"/>
                </a:solidFill>
              </a:rPr>
              <a:t>alkalmazás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49808" y="5166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5C5D8"/>
                </a:solidFill>
              </a:rPr>
              <a:t>Projektterv  |  Szoftverfejlesztés mérnököknek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5C5D8"/>
                </a:solidFill>
              </a:rPr>
              <a:t>Csapattagok: </a:t>
            </a:r>
            <a:r>
              <a:rPr lang="hu-HU" sz="1600" dirty="0">
                <a:solidFill>
                  <a:srgbClr val="B5C5D8"/>
                </a:solidFill>
              </a:rPr>
              <a:t>Brinyiczki Péter, Klepács Roland, Hunyadvári Nándor, Máté Ádám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  <p:sndAc>
          <p:stSnd loop="1">
            <p:snd r:embed="rId3" name="Concrete_scrape_loop.wav"/>
          </p:stSnd>
        </p:sndAc>
      </p:transition>
    </mc:Choice>
    <mc:Fallback xmlns="">
      <p:transition spd="slow">
        <p:fade/>
        <p:sndAc>
          <p:stSnd loop="1">
            <p:snd r:embed="rId4" name="Concrete_scrape_loop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r>
              <a:rPr lang="hu-HU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</a:t>
            </a:r>
            <a:r>
              <a:rPr lang="en-US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A probléma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C5D8"/>
                </a:solidFill>
              </a:rPr>
              <a:t>Miért van szükség </a:t>
            </a:r>
            <a:r>
              <a:rPr lang="en-US" sz="1300" dirty="0" err="1">
                <a:solidFill>
                  <a:srgbClr val="B5C5D8"/>
                </a:solidFill>
              </a:rPr>
              <a:t>egyszerű</a:t>
            </a:r>
            <a:r>
              <a:rPr lang="en-US" sz="1300" dirty="0">
                <a:solidFill>
                  <a:srgbClr val="B5C5D8"/>
                </a:solidFill>
              </a:rPr>
              <a:t> </a:t>
            </a:r>
            <a:r>
              <a:rPr lang="hu-HU" sz="1300" dirty="0">
                <a:solidFill>
                  <a:srgbClr val="B5C5D8"/>
                </a:solidFill>
              </a:rPr>
              <a:t>naplózásra</a:t>
            </a:r>
            <a:r>
              <a:rPr lang="en-US" sz="1300" dirty="0">
                <a:solidFill>
                  <a:srgbClr val="B5C5D8"/>
                </a:solidFill>
              </a:rPr>
              <a:t>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10972800" cy="0"/>
          </a:xfrm>
          <a:prstGeom prst="line">
            <a:avLst/>
          </a:prstGeom>
          <a:noFill/>
          <a:ln w="2540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74720" cy="3200400"/>
          </a:xfrm>
          <a:prstGeom prst="roundRect">
            <a:avLst>
              <a:gd name="adj" fmla="val 4286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850392" y="207568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9D6AD"/>
                </a:solidFill>
              </a:rPr>
              <a:t>Átláthatóság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50392" y="2587752"/>
            <a:ext cx="305409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A napi kalóriabevitel és a tápanyagok könnyen </a:t>
            </a:r>
            <a:r>
              <a:rPr lang="en-US" sz="1500" dirty="0" err="1">
                <a:solidFill>
                  <a:srgbClr val="F7FAFC"/>
                </a:solidFill>
              </a:rPr>
              <a:t>követhetetlenné</a:t>
            </a:r>
            <a:r>
              <a:rPr lang="en-US" sz="1500" dirty="0">
                <a:solidFill>
                  <a:srgbClr val="F7FAFC"/>
                </a:solidFill>
              </a:rPr>
              <a:t> </a:t>
            </a:r>
            <a:r>
              <a:rPr lang="en-US" sz="1500" dirty="0" err="1">
                <a:solidFill>
                  <a:srgbClr val="F7FAFC"/>
                </a:solidFill>
              </a:rPr>
              <a:t>válnak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474720" cy="3200400"/>
          </a:xfrm>
          <a:prstGeom prst="roundRect">
            <a:avLst>
              <a:gd name="adj" fmla="val 4286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553712" y="207568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9D6AD"/>
                </a:solidFill>
              </a:rPr>
              <a:t>Egyszerűség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53712" y="2587752"/>
            <a:ext cx="305409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A komplex fitneszalkalmazások funkcióinak nagy része nem </a:t>
            </a:r>
            <a:r>
              <a:rPr lang="en-US" sz="1500" dirty="0" err="1">
                <a:solidFill>
                  <a:srgbClr val="F7FAFC"/>
                </a:solidFill>
              </a:rPr>
              <a:t>szükséges</a:t>
            </a:r>
            <a:r>
              <a:rPr lang="en-US" sz="1500" dirty="0">
                <a:solidFill>
                  <a:srgbClr val="F7FAFC"/>
                </a:solidFill>
              </a:rPr>
              <a:t> </a:t>
            </a:r>
            <a:r>
              <a:rPr lang="en-US" sz="1500" dirty="0" err="1">
                <a:solidFill>
                  <a:srgbClr val="F7FAFC"/>
                </a:solidFill>
              </a:rPr>
              <a:t>mindenkinek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874520"/>
            <a:ext cx="3474720" cy="3200400"/>
          </a:xfrm>
          <a:prstGeom prst="roundRect">
            <a:avLst>
              <a:gd name="adj" fmla="val 4286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8257032" y="207568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9D6AD"/>
                </a:solidFill>
              </a:rPr>
              <a:t>Motiváció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57032" y="2587752"/>
            <a:ext cx="305409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A naplózás segít tudatosabban figyelni az </a:t>
            </a:r>
            <a:r>
              <a:rPr lang="en-US" sz="1500" dirty="0" err="1">
                <a:solidFill>
                  <a:srgbClr val="F7FAFC"/>
                </a:solidFill>
              </a:rPr>
              <a:t>étkezési</a:t>
            </a:r>
            <a:r>
              <a:rPr lang="en-US" sz="1500" dirty="0">
                <a:solidFill>
                  <a:srgbClr val="F7FAFC"/>
                </a:solidFill>
              </a:rPr>
              <a:t> </a:t>
            </a:r>
            <a:r>
              <a:rPr lang="en-US" sz="1500" dirty="0" err="1">
                <a:solidFill>
                  <a:srgbClr val="F7FAFC"/>
                </a:solidFill>
              </a:rPr>
              <a:t>szokásokra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3" name="Concrete_scrape_loop.wav"/>
          </p:stSnd>
        </p:sndAc>
      </p:transition>
    </mc:Choice>
    <mc:Fallback>
      <p:transition spd="slow">
        <p:fade/>
        <p:sndAc>
          <p:stSnd>
            <p:snd r:embed="rId3" name="Concrete_scrape_loop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</a:t>
            </a:r>
            <a:r>
              <a:rPr lang="en-US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Célcsoport és használat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C5D8"/>
                </a:solidFill>
              </a:rPr>
              <a:t>Kinek és milyen helyzetben hasznos?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10972800" cy="0"/>
          </a:xfrm>
          <a:prstGeom prst="line">
            <a:avLst/>
          </a:prstGeom>
          <a:noFill/>
          <a:ln w="2540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5212080" cy="3108960"/>
          </a:xfrm>
          <a:prstGeom prst="roundRect">
            <a:avLst>
              <a:gd name="adj" fmla="val 4412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896112" y="2167128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9D6AD"/>
                </a:solidFill>
              </a:rPr>
              <a:t>Célcsoport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679192"/>
            <a:ext cx="479145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Tudatosabban étkező felhasználók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Fogyni vagy </a:t>
            </a:r>
            <a:r>
              <a:rPr lang="hu-HU" sz="1500" dirty="0">
                <a:solidFill>
                  <a:srgbClr val="F7FAFC"/>
                </a:solidFill>
              </a:rPr>
              <a:t>tömegelni akarók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Egyszerű naplózást keresők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212080" cy="3108960"/>
          </a:xfrm>
          <a:prstGeom prst="roundRect">
            <a:avLst>
              <a:gd name="adj" fmla="val 4412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6382512" y="2167128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9D6AD"/>
                </a:solidFill>
              </a:rPr>
              <a:t>Tipikus példa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82512" y="2679192"/>
            <a:ext cx="479145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A felhasználó megnyitja a</a:t>
            </a:r>
            <a:r>
              <a:rPr lang="hu-HU" sz="1500" dirty="0">
                <a:solidFill>
                  <a:srgbClr val="F7FAFC"/>
                </a:solidFill>
              </a:rPr>
              <a:t>z alkalmazást étkezés előtt / után. </a:t>
            </a:r>
          </a:p>
          <a:p>
            <a:pPr marL="0" indent="0">
              <a:buNone/>
            </a:pPr>
            <a:r>
              <a:rPr lang="hu-HU" sz="1500" dirty="0">
                <a:solidFill>
                  <a:srgbClr val="F7FAFC"/>
                </a:solidFill>
              </a:rPr>
              <a:t>Hozzáadja az étkezését az akkori naphoz. Majd az alkalmazás összesíti az aznapi étkezés során elfogyasztott összes tápanyagot</a:t>
            </a:r>
            <a:endParaRPr lang="en-US" sz="150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534F14-5E8C-7A47-B6CE-F6A13238D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29650F8-38DF-64F5-35E2-A5F617D4C527}"/>
              </a:ext>
            </a:extLst>
          </p:cNvPr>
          <p:cNvSpPr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</a:t>
            </a:r>
            <a:r>
              <a:rPr lang="en-US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hu-HU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Technológiák</a:t>
            </a:r>
            <a:endParaRPr lang="en-US" sz="2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3C46DA-738B-8883-0558-39BBEC696B7D}"/>
              </a:ext>
            </a:extLst>
          </p:cNvPr>
          <p:cNvSpPr/>
          <p:nvPr/>
        </p:nvSpPr>
        <p:spPr>
          <a:xfrm>
            <a:off x="61264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dirty="0">
                <a:solidFill>
                  <a:srgbClr val="B5C5D8"/>
                </a:solidFill>
              </a:rPr>
              <a:t>Miféle technológiák merülnek fel a projekt során?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7EB3EA8-7724-2339-344D-8C6F1B468901}"/>
              </a:ext>
            </a:extLst>
          </p:cNvPr>
          <p:cNvSpPr/>
          <p:nvPr/>
        </p:nvSpPr>
        <p:spPr>
          <a:xfrm>
            <a:off x="594360" y="1536192"/>
            <a:ext cx="10972800" cy="0"/>
          </a:xfrm>
          <a:prstGeom prst="line">
            <a:avLst/>
          </a:prstGeom>
          <a:noFill/>
          <a:ln w="2540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0193D0-D69B-7906-4B28-D647517C32E0}"/>
              </a:ext>
            </a:extLst>
          </p:cNvPr>
          <p:cNvSpPr/>
          <p:nvPr/>
        </p:nvSpPr>
        <p:spPr>
          <a:xfrm>
            <a:off x="3081528" y="1874520"/>
            <a:ext cx="5212080" cy="3108960"/>
          </a:xfrm>
          <a:prstGeom prst="roundRect">
            <a:avLst>
              <a:gd name="adj" fmla="val 4412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A011D32-8D43-BCC0-4917-C127DA074C4E}"/>
              </a:ext>
            </a:extLst>
          </p:cNvPr>
          <p:cNvSpPr/>
          <p:nvPr/>
        </p:nvSpPr>
        <p:spPr>
          <a:xfrm>
            <a:off x="3291840" y="2215647"/>
            <a:ext cx="479145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u-HU" sz="1500" dirty="0" err="1">
                <a:solidFill>
                  <a:srgbClr val="F7FAFC"/>
                </a:solidFill>
              </a:rPr>
              <a:t>JavaFx</a:t>
            </a:r>
            <a:r>
              <a:rPr lang="hu-HU" sz="1500" dirty="0">
                <a:solidFill>
                  <a:srgbClr val="F7FAFC"/>
                </a:solidFill>
              </a:rPr>
              <a:t> (.</a:t>
            </a:r>
            <a:r>
              <a:rPr lang="hu-HU" sz="1500" dirty="0" err="1">
                <a:solidFill>
                  <a:srgbClr val="F7FAFC"/>
                </a:solidFill>
              </a:rPr>
              <a:t>fxml</a:t>
            </a:r>
            <a:r>
              <a:rPr lang="hu-HU" sz="1500" dirty="0">
                <a:solidFill>
                  <a:srgbClr val="F7FAFC"/>
                </a:solidFill>
              </a:rPr>
              <a:t>)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u-HU" sz="1500" dirty="0" err="1">
                <a:solidFill>
                  <a:srgbClr val="F7FAFC"/>
                </a:solidFill>
              </a:rPr>
              <a:t>Maven</a:t>
            </a:r>
            <a:r>
              <a:rPr lang="hu-HU" sz="1500" dirty="0">
                <a:solidFill>
                  <a:srgbClr val="F7FAFC"/>
                </a:solidFill>
              </a:rPr>
              <a:t> (projekt </a:t>
            </a:r>
            <a:r>
              <a:rPr lang="hu-HU" sz="1500" dirty="0" err="1">
                <a:solidFill>
                  <a:srgbClr val="F7FAFC"/>
                </a:solidFill>
              </a:rPr>
              <a:t>strukt</a:t>
            </a:r>
            <a:r>
              <a:rPr lang="hu-HU" sz="1500" dirty="0">
                <a:solidFill>
                  <a:srgbClr val="F7FAFC"/>
                </a:solidFill>
              </a:rPr>
              <a:t>, </a:t>
            </a:r>
            <a:r>
              <a:rPr lang="hu-HU" sz="1500" dirty="0" err="1">
                <a:solidFill>
                  <a:srgbClr val="F7FAFC"/>
                </a:solidFill>
              </a:rPr>
              <a:t>dependencies</a:t>
            </a:r>
            <a:r>
              <a:rPr lang="hu-HU" sz="1500" dirty="0">
                <a:solidFill>
                  <a:srgbClr val="F7FAFC"/>
                </a:solidFill>
              </a:rPr>
              <a:t>)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u-HU" sz="1500" dirty="0" err="1">
                <a:solidFill>
                  <a:srgbClr val="F7FAFC"/>
                </a:solidFill>
              </a:rPr>
              <a:t>SQLite</a:t>
            </a:r>
            <a:r>
              <a:rPr lang="hu-HU" sz="1500" dirty="0">
                <a:solidFill>
                  <a:srgbClr val="F7FAFC"/>
                </a:solidFill>
              </a:rPr>
              <a:t> (hordozható relációs adatbázis)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u-HU" sz="1500" dirty="0">
                <a:solidFill>
                  <a:srgbClr val="F7FAFC"/>
                </a:solidFill>
              </a:rPr>
              <a:t>Java</a:t>
            </a:r>
          </a:p>
          <a:p>
            <a:pPr marL="285750" indent="-285750" algn="ctr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1500" dirty="0" err="1">
                <a:solidFill>
                  <a:srgbClr val="F7FAFC"/>
                </a:solidFill>
              </a:rPr>
              <a:t>Git</a:t>
            </a:r>
            <a:r>
              <a:rPr lang="hu-HU" sz="1500" dirty="0">
                <a:solidFill>
                  <a:srgbClr val="F7FAFC"/>
                </a:solidFill>
              </a:rPr>
              <a:t> (</a:t>
            </a:r>
            <a:r>
              <a:rPr lang="hu-HU" sz="1500" dirty="0" err="1">
                <a:solidFill>
                  <a:srgbClr val="F7FAFC"/>
                </a:solidFill>
              </a:rPr>
              <a:t>logolás</a:t>
            </a:r>
            <a:r>
              <a:rPr lang="hu-HU" sz="1500" dirty="0">
                <a:solidFill>
                  <a:srgbClr val="F7FAFC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24082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3" name="Concrete_scrape_loop.wav"/>
          </p:stSnd>
        </p:sndAc>
      </p:transition>
    </mc:Choice>
    <mc:Fallback>
      <p:transition spd="slow">
        <p:fade/>
        <p:sndAc>
          <p:stSnd>
            <p:snd r:embed="rId3" name="Concrete_scrape_loop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r>
              <a:rPr lang="hu-HU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</a:t>
            </a:r>
            <a:r>
              <a:rPr lang="en-US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Fő funkciók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C5D8"/>
                </a:solidFill>
              </a:rPr>
              <a:t>Az alkalmazás alapvető képességei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10972800" cy="0"/>
          </a:xfrm>
          <a:prstGeom prst="line">
            <a:avLst/>
          </a:prstGeom>
          <a:noFill/>
          <a:ln w="2540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474720" cy="3337560"/>
          </a:xfrm>
          <a:prstGeom prst="roundRect">
            <a:avLst>
              <a:gd name="adj" fmla="val 4110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896112" y="207568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9D6AD"/>
                </a:solidFill>
              </a:rPr>
              <a:t>Profil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587752"/>
            <a:ext cx="305409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Név, magasság, testsúly, életkor, nem</a:t>
            </a:r>
            <a:r>
              <a:rPr lang="hu-HU" sz="1500" dirty="0">
                <a:solidFill>
                  <a:srgbClr val="F7FAFC"/>
                </a:solidFill>
              </a:rPr>
              <a:t>, aktivitás</a:t>
            </a:r>
            <a:r>
              <a:rPr lang="en-US" sz="1500" dirty="0">
                <a:solidFill>
                  <a:srgbClr val="F7FAFC"/>
                </a:solidFill>
              </a:rPr>
              <a:t> és </a:t>
            </a:r>
            <a:r>
              <a:rPr lang="en-US" sz="1500" dirty="0" err="1">
                <a:solidFill>
                  <a:srgbClr val="F7FAFC"/>
                </a:solidFill>
              </a:rPr>
              <a:t>cél</a:t>
            </a:r>
            <a:r>
              <a:rPr lang="en-US" sz="1500" dirty="0">
                <a:solidFill>
                  <a:srgbClr val="F7FAFC"/>
                </a:solidFill>
              </a:rPr>
              <a:t> </a:t>
            </a:r>
            <a:r>
              <a:rPr lang="en-US" sz="1500" dirty="0" err="1">
                <a:solidFill>
                  <a:srgbClr val="F7FAFC"/>
                </a:solidFill>
              </a:rPr>
              <a:t>megadása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474720" cy="3337560"/>
          </a:xfrm>
          <a:prstGeom prst="roundRect">
            <a:avLst>
              <a:gd name="adj" fmla="val 4110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553712" y="207568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9D6AD"/>
                </a:solidFill>
              </a:rPr>
              <a:t>Étkezésnapló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53712" y="2587752"/>
            <a:ext cx="305409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 err="1">
                <a:solidFill>
                  <a:srgbClr val="F7FAFC"/>
                </a:solidFill>
              </a:rPr>
              <a:t>Dátum</a:t>
            </a:r>
            <a:r>
              <a:rPr lang="hu-HU" sz="1500" dirty="0">
                <a:solidFill>
                  <a:srgbClr val="F7FAFC"/>
                </a:solidFill>
              </a:rPr>
              <a:t>,</a:t>
            </a:r>
            <a:r>
              <a:rPr lang="en-US" sz="1500" dirty="0">
                <a:solidFill>
                  <a:srgbClr val="F7FAFC"/>
                </a:solidFill>
              </a:rPr>
              <a:t> </a:t>
            </a:r>
            <a:r>
              <a:rPr lang="en-US" sz="1500" dirty="0" err="1">
                <a:solidFill>
                  <a:srgbClr val="F7FAFC"/>
                </a:solidFill>
              </a:rPr>
              <a:t>ételek</a:t>
            </a:r>
            <a:r>
              <a:rPr lang="en-US" sz="1500" dirty="0">
                <a:solidFill>
                  <a:srgbClr val="F7FAFC"/>
                </a:solidFill>
              </a:rPr>
              <a:t> </a:t>
            </a:r>
            <a:r>
              <a:rPr lang="hu-HU" sz="1500" dirty="0">
                <a:solidFill>
                  <a:srgbClr val="F7FAFC"/>
                </a:solidFill>
              </a:rPr>
              <a:t>tápértékének </a:t>
            </a:r>
            <a:r>
              <a:rPr lang="en-US" sz="1500" dirty="0" err="1">
                <a:solidFill>
                  <a:srgbClr val="F7FAFC"/>
                </a:solidFill>
              </a:rPr>
              <a:t>kezelése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01000" y="1874520"/>
            <a:ext cx="3474720" cy="3337560"/>
          </a:xfrm>
          <a:prstGeom prst="roundRect">
            <a:avLst>
              <a:gd name="adj" fmla="val 4110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8211312" y="207568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9D6AD"/>
                </a:solidFill>
              </a:rPr>
              <a:t>Összesítés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11312" y="2587752"/>
            <a:ext cx="305409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500" dirty="0">
                <a:solidFill>
                  <a:srgbClr val="F7FAFC"/>
                </a:solidFill>
              </a:rPr>
              <a:t>Szükséges n</a:t>
            </a:r>
            <a:r>
              <a:rPr lang="en-US" sz="1500" dirty="0" err="1">
                <a:solidFill>
                  <a:srgbClr val="F7FAFC"/>
                </a:solidFill>
              </a:rPr>
              <a:t>api</a:t>
            </a:r>
            <a:r>
              <a:rPr lang="en-US" sz="1500" dirty="0">
                <a:solidFill>
                  <a:srgbClr val="F7FAFC"/>
                </a:solidFill>
              </a:rPr>
              <a:t> kalória, fehérje, zsír és </a:t>
            </a:r>
            <a:r>
              <a:rPr lang="en-US" sz="1500" dirty="0" err="1">
                <a:solidFill>
                  <a:srgbClr val="F7FAFC"/>
                </a:solidFill>
              </a:rPr>
              <a:t>szénhidrát</a:t>
            </a:r>
            <a:r>
              <a:rPr lang="en-US" sz="1500" dirty="0">
                <a:solidFill>
                  <a:srgbClr val="F7FAFC"/>
                </a:solidFill>
              </a:rPr>
              <a:t> </a:t>
            </a:r>
            <a:r>
              <a:rPr lang="hu-HU" sz="1500" dirty="0">
                <a:solidFill>
                  <a:srgbClr val="F7FAFC"/>
                </a:solidFill>
              </a:rPr>
              <a:t>kiszámolása, aznapi adatok összesítése</a:t>
            </a:r>
            <a:endParaRPr lang="en-US" sz="15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r>
              <a:rPr lang="hu-HU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</a:t>
            </a:r>
            <a:r>
              <a:rPr lang="en-US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Felhasználói folyamat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C5D8"/>
                </a:solidFill>
              </a:rPr>
              <a:t>A naplózás lépései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10972800" cy="0"/>
          </a:xfrm>
          <a:prstGeom prst="line">
            <a:avLst/>
          </a:prstGeom>
          <a:noFill/>
          <a:ln w="2540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162238"/>
          </a:solidFill>
          <a:ln w="1778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621792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</a:rPr>
              <a:t>01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</a:rPr>
              <a:t>Profil létrehozása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69464" y="285292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9D6AD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34640" y="242316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162238"/>
          </a:solidFill>
          <a:ln w="1778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2953512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</a:rPr>
              <a:t>02</a:t>
            </a:r>
            <a:endParaRPr lang="en-US" sz="1600" dirty="0"/>
          </a:p>
          <a:p>
            <a:pPr marL="0" indent="0" algn="ctr">
              <a:buNone/>
            </a:pPr>
            <a:r>
              <a:rPr lang="hu-HU" sz="1600" b="1" dirty="0">
                <a:solidFill>
                  <a:srgbClr val="F7FAFC"/>
                </a:solidFill>
              </a:rPr>
              <a:t>Nap kiválasztása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01184" y="285292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9D6AD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66360" y="242316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162238"/>
          </a:solidFill>
          <a:ln w="1778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5285232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</a:rPr>
              <a:t>03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</a:rPr>
              <a:t>Étkezés megadása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32904" y="285292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9D6AD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98080" y="242316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162238"/>
          </a:solidFill>
          <a:ln w="1778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7616952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</a:rPr>
              <a:t>04</a:t>
            </a:r>
            <a:endParaRPr lang="en-US" sz="1600" dirty="0"/>
          </a:p>
          <a:p>
            <a:pPr marL="0" indent="0" algn="ctr">
              <a:buNone/>
            </a:pPr>
            <a:r>
              <a:rPr lang="hu-HU" sz="1600" b="1" dirty="0">
                <a:solidFill>
                  <a:srgbClr val="F7FAFC"/>
                </a:solidFill>
              </a:rPr>
              <a:t>Tápanyagok rögzítése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64624" y="285292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9D6AD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829800" y="242316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162238"/>
          </a:solidFill>
          <a:ln w="1778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9948672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</a:rPr>
              <a:t>05</a:t>
            </a:r>
            <a:endParaRPr lang="en-US" sz="1600" dirty="0"/>
          </a:p>
          <a:p>
            <a:pPr marL="0" indent="0" algn="ctr">
              <a:buNone/>
            </a:pPr>
            <a:r>
              <a:rPr lang="hu-HU" sz="1600" b="1" dirty="0">
                <a:solidFill>
                  <a:srgbClr val="F7FAFC"/>
                </a:solidFill>
              </a:rPr>
              <a:t>Napi</a:t>
            </a:r>
            <a:r>
              <a:rPr lang="en-US" sz="1600" b="1" dirty="0">
                <a:solidFill>
                  <a:srgbClr val="F7FAFC"/>
                </a:solidFill>
              </a:rPr>
              <a:t> összesítés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BFBFAA-CA1E-8D80-8332-63F882A6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Kép 22" descr="But what if scout did have a flashbang? : r/tf2">
            <a:extLst>
              <a:ext uri="{FF2B5EF4-FFF2-40B4-BE49-F238E27FC236}">
                <a16:creationId xmlns:a16="http://schemas.microsoft.com/office/drawing/2014/main" id="{10FC79CF-AF9A-7147-4A71-1B7D1D809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506" y="1228686"/>
            <a:ext cx="4994988" cy="4994988"/>
          </a:xfrm>
          <a:prstGeom prst="rect">
            <a:avLst/>
          </a:prstGeom>
        </p:spPr>
      </p:pic>
      <p:sp>
        <p:nvSpPr>
          <p:cNvPr id="21" name="Text 0">
            <a:extLst>
              <a:ext uri="{FF2B5EF4-FFF2-40B4-BE49-F238E27FC236}">
                <a16:creationId xmlns:a16="http://schemas.microsoft.com/office/drawing/2014/main" id="{5777A9DF-26AB-E589-9CD6-909B7370983B}"/>
              </a:ext>
            </a:extLst>
          </p:cNvPr>
          <p:cNvSpPr/>
          <p:nvPr/>
        </p:nvSpPr>
        <p:spPr>
          <a:xfrm>
            <a:off x="609600" y="1359039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2900" dirty="0"/>
              <a:t>Vigyázat, fehér kép!!</a:t>
            </a: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2315217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>
            <a:extLst>
              <a:ext uri="{FF2B5EF4-FFF2-40B4-BE49-F238E27FC236}">
                <a16:creationId xmlns:a16="http://schemas.microsoft.com/office/drawing/2014/main" id="{861A6420-97A0-9FB5-6095-3282C2C76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728" y="1033272"/>
            <a:ext cx="5168632" cy="5258594"/>
          </a:xfrm>
          <a:prstGeom prst="rect">
            <a:avLst/>
          </a:prstGeom>
        </p:spPr>
      </p:pic>
      <p:sp>
        <p:nvSpPr>
          <p:cNvPr id="14" name="Text 0">
            <a:extLst>
              <a:ext uri="{FF2B5EF4-FFF2-40B4-BE49-F238E27FC236}">
                <a16:creationId xmlns:a16="http://schemas.microsoft.com/office/drawing/2014/main" id="{AA326615-3B03-12E8-EDB9-6F9BA6832FD6}"/>
              </a:ext>
            </a:extLst>
          </p:cNvPr>
          <p:cNvSpPr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900" b="1" dirty="0">
                <a:latin typeface="Aptos Display" pitchFamily="34" charset="0"/>
              </a:rPr>
              <a:t>6. Adatbázis felépítése</a:t>
            </a:r>
            <a:endParaRPr lang="en-US" sz="29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05B72E95-6816-A239-46DE-6864DAEACED6}"/>
              </a:ext>
            </a:extLst>
          </p:cNvPr>
          <p:cNvSpPr/>
          <p:nvPr/>
        </p:nvSpPr>
        <p:spPr>
          <a:xfrm>
            <a:off x="61264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EC329685-5998-8D3F-A370-20D7A4B14CC2}"/>
              </a:ext>
            </a:extLst>
          </p:cNvPr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2540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</a:t>
            </a:r>
            <a:r>
              <a:rPr lang="en-US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Tesztelés és elvárt eredmény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C5D8"/>
                </a:solidFill>
              </a:rPr>
              <a:t>Honnan tudjuk, </a:t>
            </a:r>
            <a:r>
              <a:rPr lang="en-US" sz="1300" dirty="0" err="1">
                <a:solidFill>
                  <a:srgbClr val="B5C5D8"/>
                </a:solidFill>
              </a:rPr>
              <a:t>hogy</a:t>
            </a:r>
            <a:r>
              <a:rPr lang="en-US" sz="1300" dirty="0">
                <a:solidFill>
                  <a:srgbClr val="B5C5D8"/>
                </a:solidFill>
              </a:rPr>
              <a:t> </a:t>
            </a:r>
            <a:r>
              <a:rPr lang="en-US" sz="1300" dirty="0" err="1">
                <a:solidFill>
                  <a:srgbClr val="B5C5D8"/>
                </a:solidFill>
              </a:rPr>
              <a:t>elkészült</a:t>
            </a:r>
            <a:r>
              <a:rPr lang="en-US" sz="1300" dirty="0">
                <a:solidFill>
                  <a:srgbClr val="B5C5D8"/>
                </a:solidFill>
              </a:rPr>
              <a:t>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10972800" cy="0"/>
          </a:xfrm>
          <a:prstGeom prst="line">
            <a:avLst/>
          </a:prstGeom>
          <a:noFill/>
          <a:ln w="2540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212080" cy="3429000"/>
          </a:xfrm>
          <a:prstGeom prst="roundRect">
            <a:avLst>
              <a:gd name="adj" fmla="val 4000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896112" y="2075688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9D6AD"/>
                </a:solidFill>
              </a:rPr>
              <a:t>Elfogadási feltételek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587752"/>
            <a:ext cx="479145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A profil adatai menthetők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Egy naphoz több étkezés rögzíthető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Egy étkezéshez több étel adható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A napi összesítés helyesen számol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212080" cy="3429000"/>
          </a:xfrm>
          <a:prstGeom prst="roundRect">
            <a:avLst>
              <a:gd name="adj" fmla="val 4000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6382512" y="2075688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9D6AD"/>
                </a:solidFill>
              </a:rPr>
              <a:t>Tesztelési példák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82512" y="2587752"/>
            <a:ext cx="479145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Hiányzó kötelező adatok kezelése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Negatív </a:t>
            </a:r>
            <a:r>
              <a:rPr lang="en-US" sz="1500" dirty="0" err="1">
                <a:solidFill>
                  <a:srgbClr val="F7FAFC"/>
                </a:solidFill>
              </a:rPr>
              <a:t>mennyiség</a:t>
            </a:r>
            <a:r>
              <a:rPr lang="en-US" sz="1500" dirty="0">
                <a:solidFill>
                  <a:srgbClr val="F7FAFC"/>
                </a:solidFill>
              </a:rPr>
              <a:t> </a:t>
            </a:r>
            <a:r>
              <a:rPr lang="en-US" sz="1500" dirty="0" err="1">
                <a:solidFill>
                  <a:srgbClr val="F7FAFC"/>
                </a:solidFill>
              </a:rPr>
              <a:t>elutasítása</a:t>
            </a:r>
            <a:endParaRPr lang="en-US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F7FAFC"/>
                </a:solidFill>
              </a:rPr>
              <a:t>Adatok</a:t>
            </a:r>
            <a:r>
              <a:rPr lang="en-US" sz="1500" dirty="0">
                <a:solidFill>
                  <a:srgbClr val="F7FAFC"/>
                </a:solidFill>
              </a:rPr>
              <a:t> megfelelő felhasználóhoz rendelése</a:t>
            </a:r>
            <a:endParaRPr lang="en-US" sz="15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12D9C-79E1-4DAB-415E-7EF545F4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DF9548-F3B1-28C9-EC4B-CED9872197B2}"/>
              </a:ext>
            </a:extLst>
          </p:cNvPr>
          <p:cNvSpPr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</a:t>
            </a:r>
            <a:r>
              <a:rPr lang="en-US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</a:t>
            </a:r>
            <a:r>
              <a:rPr lang="hu-HU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Projekt jelenlegi állapota</a:t>
            </a:r>
            <a:endParaRPr lang="en-US" sz="2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C973F17-9366-87D6-2925-008BEAE8AB21}"/>
              </a:ext>
            </a:extLst>
          </p:cNvPr>
          <p:cNvSpPr/>
          <p:nvPr/>
        </p:nvSpPr>
        <p:spPr>
          <a:xfrm>
            <a:off x="594360" y="1536192"/>
            <a:ext cx="10972800" cy="0"/>
          </a:xfrm>
          <a:prstGeom prst="line">
            <a:avLst/>
          </a:prstGeom>
          <a:noFill/>
          <a:ln w="2540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4E77B2F-0F1E-C29F-ED7F-84D56C3666CB}"/>
              </a:ext>
            </a:extLst>
          </p:cNvPr>
          <p:cNvSpPr/>
          <p:nvPr/>
        </p:nvSpPr>
        <p:spPr>
          <a:xfrm>
            <a:off x="742055" y="2077244"/>
            <a:ext cx="3548270" cy="3429000"/>
          </a:xfrm>
          <a:prstGeom prst="roundRect">
            <a:avLst>
              <a:gd name="adj" fmla="val 4000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4500D84-1144-3192-881B-B199E065A6CA}"/>
              </a:ext>
            </a:extLst>
          </p:cNvPr>
          <p:cNvSpPr/>
          <p:nvPr/>
        </p:nvSpPr>
        <p:spPr>
          <a:xfrm>
            <a:off x="896112" y="2188597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900" b="1" dirty="0">
                <a:solidFill>
                  <a:srgbClr val="49D6AD"/>
                </a:solidFill>
              </a:rPr>
              <a:t>Futtatás menete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C06C146-744A-AC85-58F0-F1F0EDA30C1B}"/>
              </a:ext>
            </a:extLst>
          </p:cNvPr>
          <p:cNvSpPr/>
          <p:nvPr/>
        </p:nvSpPr>
        <p:spPr>
          <a:xfrm>
            <a:off x="896112" y="2854882"/>
            <a:ext cx="3168992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500" dirty="0">
                <a:solidFill>
                  <a:srgbClr val="F7FAFC"/>
                </a:solidFill>
              </a:rPr>
              <a:t>Futtatáskor megjelenik egy ablak, aminek a segítségével már lehet felhasználót hozzárendelni adatbázishoz.</a:t>
            </a:r>
            <a:endParaRPr lang="en-US" sz="1500" dirty="0"/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BDCBFC29-2079-35C7-FA52-B49FA4194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244" y="2313944"/>
            <a:ext cx="7300529" cy="29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09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1E681-C161-D9FF-DC90-99AA20AAB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BDDF5E-EC75-FEDD-0A32-D4E76FE141EB}"/>
              </a:ext>
            </a:extLst>
          </p:cNvPr>
          <p:cNvSpPr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</a:t>
            </a:r>
            <a:r>
              <a:rPr lang="en-US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</a:t>
            </a:r>
            <a:r>
              <a:rPr lang="hu-HU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Projekt jelenlegi állapota</a:t>
            </a:r>
            <a:endParaRPr lang="en-US" sz="2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F5700CB-57E4-78AF-83D7-5C9A88EA2145}"/>
              </a:ext>
            </a:extLst>
          </p:cNvPr>
          <p:cNvSpPr/>
          <p:nvPr/>
        </p:nvSpPr>
        <p:spPr>
          <a:xfrm>
            <a:off x="594360" y="1536192"/>
            <a:ext cx="10972800" cy="0"/>
          </a:xfrm>
          <a:prstGeom prst="line">
            <a:avLst/>
          </a:prstGeom>
          <a:noFill/>
          <a:ln w="2540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DAF5914-F613-DD33-5ED3-9C9048FFA973}"/>
              </a:ext>
            </a:extLst>
          </p:cNvPr>
          <p:cNvSpPr/>
          <p:nvPr/>
        </p:nvSpPr>
        <p:spPr>
          <a:xfrm>
            <a:off x="742055" y="2077244"/>
            <a:ext cx="3548270" cy="3429000"/>
          </a:xfrm>
          <a:prstGeom prst="roundRect">
            <a:avLst>
              <a:gd name="adj" fmla="val 4000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FD27786-1A9A-C211-91D8-385769D70A3A}"/>
              </a:ext>
            </a:extLst>
          </p:cNvPr>
          <p:cNvSpPr/>
          <p:nvPr/>
        </p:nvSpPr>
        <p:spPr>
          <a:xfrm>
            <a:off x="896112" y="2188597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900" b="1" dirty="0">
                <a:solidFill>
                  <a:srgbClr val="49D6AD"/>
                </a:solidFill>
              </a:rPr>
              <a:t>Eddigi hibakezelés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E9212C1-D60D-BCF3-0A31-FDBC3406C540}"/>
              </a:ext>
            </a:extLst>
          </p:cNvPr>
          <p:cNvSpPr/>
          <p:nvPr/>
        </p:nvSpPr>
        <p:spPr>
          <a:xfrm>
            <a:off x="896112" y="2854882"/>
            <a:ext cx="3168992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500" dirty="0">
                <a:solidFill>
                  <a:srgbClr val="F7FAFC"/>
                </a:solidFill>
              </a:rPr>
              <a:t>A program le tudja kezelni, ha bármelyik mező üresen marad, vagy ha az adatot nem megfelelő típusban adjuk meg (szám helyett betű, pozitív helyet negatív)</a:t>
            </a:r>
            <a:endParaRPr lang="en-US" sz="1500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7EE26B30-25DA-5B5D-12BD-A60C9EB6C6D6}"/>
              </a:ext>
            </a:extLst>
          </p:cNvPr>
          <p:cNvPicPr>
            <a:picLocks/>
          </p:cNvPicPr>
          <p:nvPr/>
        </p:nvPicPr>
        <p:blipFill>
          <a:blip r:embed="rId3"/>
          <a:srcRect b="25410"/>
          <a:stretch>
            <a:fillRect/>
          </a:stretch>
        </p:blipFill>
        <p:spPr>
          <a:xfrm>
            <a:off x="4727448" y="2314863"/>
            <a:ext cx="7300800" cy="295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875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</a:t>
            </a:r>
            <a:r>
              <a:rPr lang="en-US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Projektcél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10972800" cy="0"/>
          </a:xfrm>
          <a:prstGeom prst="line">
            <a:avLst/>
          </a:prstGeom>
          <a:noFill/>
          <a:ln w="2540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12080" cy="3291840"/>
          </a:xfrm>
          <a:prstGeom prst="roundRect">
            <a:avLst>
              <a:gd name="adj" fmla="val 4167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896112" y="2121408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900" b="1" dirty="0">
                <a:solidFill>
                  <a:srgbClr val="49D6AD"/>
                </a:solidFill>
              </a:rPr>
              <a:t>Amiket mindenképpen benne szeretnénk tudni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633472"/>
            <a:ext cx="479145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Felhasználói profil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Étkezések rögzítése napokra bontva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Ételek és mennyiségek hozzáadása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7FAFC"/>
                </a:solidFill>
              </a:rPr>
              <a:t>Kalória és makrotápanyagok összesítése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212080" cy="3291840"/>
          </a:xfrm>
          <a:prstGeom prst="roundRect">
            <a:avLst>
              <a:gd name="adj" fmla="val 4167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6382512" y="2121408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9D6AD"/>
                </a:solidFill>
              </a:rPr>
              <a:t>Ami</a:t>
            </a:r>
            <a:r>
              <a:rPr lang="hu-HU" sz="1900" b="1" dirty="0" err="1">
                <a:solidFill>
                  <a:srgbClr val="49D6AD"/>
                </a:solidFill>
              </a:rPr>
              <a:t>kben</a:t>
            </a:r>
            <a:r>
              <a:rPr lang="hu-HU" sz="1900" b="1" dirty="0">
                <a:solidFill>
                  <a:srgbClr val="49D6AD"/>
                </a:solidFill>
              </a:rPr>
              <a:t> </a:t>
            </a:r>
            <a:r>
              <a:rPr lang="en-US" sz="1900" b="1" dirty="0" err="1">
                <a:solidFill>
                  <a:srgbClr val="49D6AD"/>
                </a:solidFill>
              </a:rPr>
              <a:t>első</a:t>
            </a:r>
            <a:r>
              <a:rPr lang="en-US" sz="1900" b="1" dirty="0">
                <a:solidFill>
                  <a:srgbClr val="49D6AD"/>
                </a:solidFill>
              </a:rPr>
              <a:t> </a:t>
            </a:r>
            <a:r>
              <a:rPr lang="en-US" sz="1900" b="1" dirty="0" err="1">
                <a:solidFill>
                  <a:srgbClr val="49D6AD"/>
                </a:solidFill>
              </a:rPr>
              <a:t>körben</a:t>
            </a:r>
            <a:r>
              <a:rPr lang="en-US" sz="1900" b="1" dirty="0">
                <a:solidFill>
                  <a:srgbClr val="49D6AD"/>
                </a:solidFill>
              </a:rPr>
              <a:t> </a:t>
            </a:r>
            <a:r>
              <a:rPr lang="hu-HU" sz="1900" b="1" dirty="0">
                <a:solidFill>
                  <a:srgbClr val="49D6AD"/>
                </a:solidFill>
              </a:rPr>
              <a:t>nem vagyunk biztosak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82512" y="2633472"/>
            <a:ext cx="479145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500" dirty="0">
                <a:solidFill>
                  <a:srgbClr val="F7FAFC"/>
                </a:solidFill>
              </a:rPr>
              <a:t>Étkezési kategóriákra való lebontás (reggeli, ebéd, vacsora)</a:t>
            </a:r>
          </a:p>
          <a:p>
            <a:pPr marL="0" indent="0">
              <a:buNone/>
            </a:pPr>
            <a:r>
              <a:rPr lang="hu-HU" sz="1500" dirty="0">
                <a:solidFill>
                  <a:srgbClr val="F7FAFC"/>
                </a:solidFill>
              </a:rPr>
              <a:t>Étkezés elemeinek módosítása</a:t>
            </a:r>
          </a:p>
          <a:p>
            <a:pPr marL="0" indent="0">
              <a:buNone/>
            </a:pPr>
            <a:r>
              <a:rPr lang="hu-HU" sz="1500" dirty="0">
                <a:solidFill>
                  <a:srgbClr val="F7FAFC"/>
                </a:solidFill>
              </a:rPr>
              <a:t>Regisztrált felhasználó törlése</a:t>
            </a:r>
          </a:p>
          <a:p>
            <a:pPr marL="0" indent="0">
              <a:buNone/>
            </a:pPr>
            <a:r>
              <a:rPr lang="hu-HU" sz="1500" dirty="0">
                <a:solidFill>
                  <a:srgbClr val="F7FAFC"/>
                </a:solidFill>
              </a:rPr>
              <a:t>Teljes mértékben felhasználóbarát UI</a:t>
            </a:r>
          </a:p>
          <a:p>
            <a:pPr marL="0" indent="0">
              <a:buNone/>
            </a:pPr>
            <a:r>
              <a:rPr lang="hu-HU" sz="1500" dirty="0">
                <a:solidFill>
                  <a:srgbClr val="F7FAFC"/>
                </a:solidFill>
              </a:rPr>
              <a:t>Havi / napi visszajelzés</a:t>
            </a:r>
          </a:p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</a:t>
            </a:r>
            <a:r>
              <a:rPr lang="en-US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Továbbfejlesztési lehetőségek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C5D8"/>
                </a:solidFill>
              </a:rPr>
              <a:t>A jelenlegi projekt később bővíthető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10972800" cy="0"/>
          </a:xfrm>
          <a:prstGeom prst="line">
            <a:avLst/>
          </a:prstGeom>
          <a:noFill/>
          <a:ln w="2540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3474720" cy="3154680"/>
          </a:xfrm>
          <a:prstGeom prst="roundRect">
            <a:avLst>
              <a:gd name="adj" fmla="val 4348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896112" y="212140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9D6AD"/>
                </a:solidFill>
              </a:rPr>
              <a:t>Statisztikák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633472"/>
            <a:ext cx="30540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500" dirty="0">
                <a:solidFill>
                  <a:srgbClr val="F7FAFC"/>
                </a:solidFill>
              </a:rPr>
              <a:t>Napi</a:t>
            </a:r>
            <a:r>
              <a:rPr lang="en-US" sz="1500" dirty="0">
                <a:solidFill>
                  <a:srgbClr val="F7FAFC"/>
                </a:solidFill>
              </a:rPr>
              <a:t> </a:t>
            </a:r>
            <a:r>
              <a:rPr lang="hu-HU" sz="1500" dirty="0">
                <a:solidFill>
                  <a:srgbClr val="F7FAFC"/>
                </a:solidFill>
              </a:rPr>
              <a:t>összesítés</a:t>
            </a:r>
            <a:r>
              <a:rPr lang="en-US" sz="1500" dirty="0">
                <a:solidFill>
                  <a:srgbClr val="F7FAFC"/>
                </a:solidFill>
              </a:rPr>
              <a:t>, </a:t>
            </a:r>
            <a:r>
              <a:rPr lang="en-US" sz="1500" dirty="0" err="1">
                <a:solidFill>
                  <a:srgbClr val="F7FAFC"/>
                </a:solidFill>
              </a:rPr>
              <a:t>fejlődés</a:t>
            </a:r>
            <a:r>
              <a:rPr lang="en-US" sz="1500" dirty="0">
                <a:solidFill>
                  <a:srgbClr val="F7FAFC"/>
                </a:solidFill>
              </a:rPr>
              <a:t> </a:t>
            </a:r>
            <a:r>
              <a:rPr lang="en-US" sz="1500" dirty="0" err="1">
                <a:solidFill>
                  <a:srgbClr val="F7FAFC"/>
                </a:solidFill>
              </a:rPr>
              <a:t>követése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474720" cy="3154680"/>
          </a:xfrm>
          <a:prstGeom prst="roundRect">
            <a:avLst>
              <a:gd name="adj" fmla="val 4348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553712" y="212140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9D6AD"/>
                </a:solidFill>
              </a:rPr>
              <a:t>Személyre szabás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53712" y="2633472"/>
            <a:ext cx="30540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F7FAFC"/>
                </a:solidFill>
              </a:rPr>
              <a:t>Kalóriacélok és ajánlott </a:t>
            </a:r>
            <a:r>
              <a:rPr lang="en-US" sz="1500" dirty="0" err="1">
                <a:solidFill>
                  <a:srgbClr val="F7FAFC"/>
                </a:solidFill>
              </a:rPr>
              <a:t>makrók</a:t>
            </a:r>
            <a:r>
              <a:rPr lang="en-US" sz="1500" dirty="0">
                <a:solidFill>
                  <a:srgbClr val="F7FAFC"/>
                </a:solidFill>
              </a:rPr>
              <a:t> </a:t>
            </a:r>
            <a:r>
              <a:rPr lang="en-US" sz="1500" dirty="0" err="1">
                <a:solidFill>
                  <a:srgbClr val="F7FAFC"/>
                </a:solidFill>
              </a:rPr>
              <a:t>számítása</a:t>
            </a:r>
            <a:r>
              <a:rPr lang="hu-HU" sz="1500" dirty="0">
                <a:solidFill>
                  <a:srgbClr val="F7FAFC"/>
                </a:solidFill>
              </a:rPr>
              <a:t>, naplózott tételek módosítása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01000" y="1920240"/>
            <a:ext cx="3474720" cy="3154680"/>
          </a:xfrm>
          <a:prstGeom prst="roundRect">
            <a:avLst>
              <a:gd name="adj" fmla="val 4348"/>
            </a:avLst>
          </a:prstGeom>
          <a:solidFill>
            <a:srgbClr val="162238"/>
          </a:solidFill>
          <a:ln w="12700">
            <a:solidFill>
              <a:srgbClr val="2D405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8211312" y="212140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9D6AD"/>
                </a:solidFill>
              </a:rPr>
              <a:t>Kényelmi funkciók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11312" y="2633472"/>
            <a:ext cx="305409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500" dirty="0">
                <a:solidFill>
                  <a:srgbClr val="F7FAFC"/>
                </a:solidFill>
              </a:rPr>
              <a:t>Előzőleg megadott ételek </a:t>
            </a:r>
            <a:r>
              <a:rPr lang="en-US" sz="1500" dirty="0" err="1">
                <a:solidFill>
                  <a:srgbClr val="F7FAFC"/>
                </a:solidFill>
              </a:rPr>
              <a:t>keresés</a:t>
            </a:r>
            <a:r>
              <a:rPr lang="hu-HU" sz="1500" dirty="0">
                <a:solidFill>
                  <a:srgbClr val="F7FAFC"/>
                </a:solidFill>
              </a:rPr>
              <a:t>e</a:t>
            </a:r>
            <a:r>
              <a:rPr lang="en-US" sz="1500" dirty="0">
                <a:solidFill>
                  <a:srgbClr val="F7FAFC"/>
                </a:solidFill>
              </a:rPr>
              <a:t>,</a:t>
            </a:r>
            <a:r>
              <a:rPr lang="hu-HU" sz="1500" dirty="0">
                <a:solidFill>
                  <a:srgbClr val="F7FAFC"/>
                </a:solidFill>
              </a:rPr>
              <a:t> gyakran hozzáadott ételek felajánlása, felhasználóbarát kezelőfelület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</a:t>
            </a:r>
            <a:r>
              <a:rPr lang="en-US" sz="29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Összefoglalás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10972800" cy="0"/>
          </a:xfrm>
          <a:prstGeom prst="line">
            <a:avLst/>
          </a:prstGeom>
          <a:noFill/>
          <a:ln w="25400">
            <a:solidFill>
              <a:srgbClr val="49D6A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7FAFC"/>
                </a:solidFill>
              </a:rPr>
              <a:t>Egy </a:t>
            </a:r>
            <a:r>
              <a:rPr lang="en-US" sz="2900" b="1" dirty="0" err="1">
                <a:solidFill>
                  <a:srgbClr val="F7FAFC"/>
                </a:solidFill>
              </a:rPr>
              <a:t>egyszerű</a:t>
            </a:r>
            <a:r>
              <a:rPr lang="en-US" sz="2900" b="1" dirty="0">
                <a:solidFill>
                  <a:srgbClr val="F7FAFC"/>
                </a:solidFill>
              </a:rPr>
              <a:t> étkezésnapló, amely a legfontosabb funkciókra koncentrál: rögzítés, rendszerezés, összesítés.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097280" y="48006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49D6AD"/>
                </a:solidFill>
              </a:rPr>
              <a:t>Köszönjük a </a:t>
            </a:r>
            <a:r>
              <a:rPr lang="en-US" sz="2500" dirty="0" err="1">
                <a:solidFill>
                  <a:srgbClr val="49D6AD"/>
                </a:solidFill>
              </a:rPr>
              <a:t>figyelmet</a:t>
            </a:r>
            <a:r>
              <a:rPr lang="en-US" sz="2500" dirty="0">
                <a:solidFill>
                  <a:srgbClr val="49D6AD"/>
                </a:solidFill>
              </a:rPr>
              <a:t>!</a:t>
            </a:r>
            <a:endParaRPr lang="en-US" sz="25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0.00247 0.00578 L 0.09688 -0.0926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61" y="-493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464</Words>
  <Application>Microsoft Office PowerPoint</Application>
  <PresentationFormat>Szélesvásznú</PresentationFormat>
  <Paragraphs>108</Paragraphs>
  <Slides>14</Slides>
  <Notes>14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7" baseType="lpstr">
      <vt:lpstr>Aptos Display</vt:lpstr>
      <vt:lpstr>Arial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Kalória- és étkezésnaplózó alkalmazás</dc:subject>
  <dc:creator>Projektcsapat</dc:creator>
  <cp:lastModifiedBy>Ádám Máté</cp:lastModifiedBy>
  <cp:revision>45</cp:revision>
  <dcterms:created xsi:type="dcterms:W3CDTF">2026-10-22T13:52:19Z</dcterms:created>
  <dcterms:modified xsi:type="dcterms:W3CDTF">2026-10-28T19:18:28Z</dcterms:modified>
</cp:coreProperties>
</file>