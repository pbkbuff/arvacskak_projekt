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67" r:id="rId10"/>
    <p:sldId id="268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7" d="100"/>
          <a:sy n="77" d="100"/>
        </p:scale>
        <p:origin x="72" y="1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01284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audio" Target="../media/audio1.wav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audio" Target="../media/audio1.wav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914400"/>
            <a:ext cx="1417320" cy="109728"/>
          </a:xfrm>
          <a:prstGeom prst="roundRect">
            <a:avLst/>
          </a:prstGeom>
          <a:solidFill>
            <a:srgbClr val="49D6AD"/>
          </a:solidFill>
          <a:ln w="12700">
            <a:solidFill>
              <a:srgbClr val="49D6AD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731520" y="150876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5100" b="1" dirty="0">
                <a:solidFill>
                  <a:srgbClr val="F7FAFC"/>
                </a:solidFill>
              </a:rPr>
              <a:t>KALÓRIASZÁMLÁLÓ</a:t>
            </a:r>
            <a:endParaRPr lang="en-US" sz="5100" dirty="0"/>
          </a:p>
        </p:txBody>
      </p:sp>
      <p:sp>
        <p:nvSpPr>
          <p:cNvPr id="4" name="Text 2"/>
          <p:cNvSpPr/>
          <p:nvPr/>
        </p:nvSpPr>
        <p:spPr>
          <a:xfrm>
            <a:off x="749808" y="27432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dirty="0">
                <a:solidFill>
                  <a:srgbClr val="49D6AD"/>
                </a:solidFill>
              </a:rPr>
              <a:t>Egyszerű kalória- és </a:t>
            </a:r>
            <a:r>
              <a:rPr lang="en-US" sz="2500" dirty="0" err="1">
                <a:solidFill>
                  <a:srgbClr val="49D6AD"/>
                </a:solidFill>
              </a:rPr>
              <a:t>tápanyagkövető</a:t>
            </a:r>
            <a:r>
              <a:rPr lang="en-US" sz="2500" dirty="0">
                <a:solidFill>
                  <a:srgbClr val="49D6AD"/>
                </a:solidFill>
              </a:rPr>
              <a:t> </a:t>
            </a:r>
            <a:r>
              <a:rPr lang="hu-HU" sz="2500" dirty="0">
                <a:solidFill>
                  <a:srgbClr val="49D6AD"/>
                </a:solidFill>
              </a:rPr>
              <a:t>alkalmazás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49808" y="51663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5C5D8"/>
                </a:solidFill>
              </a:rPr>
              <a:t>Projektterv  |  Szoftverfejlesztés mérnököknek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B5C5D8"/>
                </a:solidFill>
              </a:rPr>
              <a:t>Csapattagok: </a:t>
            </a:r>
            <a:r>
              <a:rPr lang="hu-HU" sz="1600" dirty="0">
                <a:solidFill>
                  <a:srgbClr val="B5C5D8"/>
                </a:solidFill>
              </a:rPr>
              <a:t>Brinyiczki Péter, Klepács Roland, Hunyadvári Nándor, Máté Ádám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12648" y="651052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900" dirty="0">
                <a:solidFill>
                  <a:srgbClr val="B5C5D8"/>
                </a:solidFill>
              </a:rPr>
              <a:t>KALÓRIANAPLÓ</a:t>
            </a:r>
            <a:r>
              <a:rPr lang="en-US" sz="900" dirty="0">
                <a:solidFill>
                  <a:srgbClr val="B5C5D8"/>
                </a:solidFill>
              </a:rPr>
              <a:t>  •  Szoftverfejlesztés mérnököknek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155680" y="64922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5C5D8"/>
                </a:solidFill>
              </a:rPr>
              <a:t>01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  <p:sndAc>
          <p:stSnd loop="1">
            <p:snd r:embed="rId3" name="Concrete_scrape_loop.wav"/>
          </p:stSnd>
        </p:sndAc>
      </p:transition>
    </mc:Choice>
    <mc:Fallback xmlns="">
      <p:transition spd="slow">
        <p:fade/>
        <p:sndAc>
          <p:stSnd loop="1">
            <p:snd r:embed="rId4" name="Concrete_scrape_loop.wav"/>
          </p:stSnd>
        </p:sndAc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r>
              <a:rPr lang="hu-HU" sz="29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.</a:t>
            </a:r>
            <a:r>
              <a:rPr lang="en-US" sz="29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 A probléma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12648" y="1033272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5C5D8"/>
                </a:solidFill>
              </a:rPr>
              <a:t>Miért van szükség </a:t>
            </a:r>
            <a:r>
              <a:rPr lang="en-US" sz="1300" dirty="0" err="1">
                <a:solidFill>
                  <a:srgbClr val="B5C5D8"/>
                </a:solidFill>
              </a:rPr>
              <a:t>egyszerű</a:t>
            </a:r>
            <a:r>
              <a:rPr lang="en-US" sz="1300" dirty="0">
                <a:solidFill>
                  <a:srgbClr val="B5C5D8"/>
                </a:solidFill>
              </a:rPr>
              <a:t> étkezésnaplóra?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" y="1536192"/>
            <a:ext cx="10972800" cy="0"/>
          </a:xfrm>
          <a:prstGeom prst="line">
            <a:avLst/>
          </a:prstGeom>
          <a:noFill/>
          <a:ln w="25400">
            <a:solidFill>
              <a:srgbClr val="49D6AD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74720" cy="3200400"/>
          </a:xfrm>
          <a:prstGeom prst="roundRect">
            <a:avLst>
              <a:gd name="adj" fmla="val 4286"/>
            </a:avLst>
          </a:prstGeom>
          <a:solidFill>
            <a:srgbClr val="162238"/>
          </a:solidFill>
          <a:ln w="12700">
            <a:solidFill>
              <a:srgbClr val="2D405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850392" y="2075688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49D6AD"/>
                </a:solidFill>
              </a:rPr>
              <a:t>Átláthatóság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50392" y="2587752"/>
            <a:ext cx="3054096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7FAFC"/>
                </a:solidFill>
              </a:rPr>
              <a:t>A napi kalóriabevitel és a tápanyagok könnyen követhetetlenné válnak.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43400" y="1874520"/>
            <a:ext cx="3474720" cy="3200400"/>
          </a:xfrm>
          <a:prstGeom prst="roundRect">
            <a:avLst>
              <a:gd name="adj" fmla="val 4286"/>
            </a:avLst>
          </a:prstGeom>
          <a:solidFill>
            <a:srgbClr val="162238"/>
          </a:solidFill>
          <a:ln w="12700">
            <a:solidFill>
              <a:srgbClr val="2D405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4553712" y="2075688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49D6AD"/>
                </a:solidFill>
              </a:rPr>
              <a:t>Egyszerűség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53712" y="2587752"/>
            <a:ext cx="3054096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7FAFC"/>
                </a:solidFill>
              </a:rPr>
              <a:t>A komplex fitneszalkalmazások funkcióinak nagy része nem szükséges mindenkinek.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46720" y="1874520"/>
            <a:ext cx="3474720" cy="3200400"/>
          </a:xfrm>
          <a:prstGeom prst="roundRect">
            <a:avLst>
              <a:gd name="adj" fmla="val 4286"/>
            </a:avLst>
          </a:prstGeom>
          <a:solidFill>
            <a:srgbClr val="162238"/>
          </a:solidFill>
          <a:ln w="12700">
            <a:solidFill>
              <a:srgbClr val="2D405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8257032" y="2075688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49D6AD"/>
                </a:solidFill>
              </a:rPr>
              <a:t>Motiváció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257032" y="2587752"/>
            <a:ext cx="3054096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7FAFC"/>
                </a:solidFill>
              </a:rPr>
              <a:t>A naplózás segít tudatosabban figyelni az étkezési szokásokra.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155680" y="64922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5C5D8"/>
                </a:solidFill>
              </a:rPr>
              <a:t>02</a:t>
            </a:r>
            <a:endParaRPr lang="en-US" sz="1000" dirty="0"/>
          </a:p>
        </p:txBody>
      </p:sp>
      <p:sp>
        <p:nvSpPr>
          <p:cNvPr id="17" name="Text 4">
            <a:extLst>
              <a:ext uri="{FF2B5EF4-FFF2-40B4-BE49-F238E27FC236}">
                <a16:creationId xmlns:a16="http://schemas.microsoft.com/office/drawing/2014/main" id="{A8995CB4-09CC-EF90-2070-8341E8E7A80E}"/>
              </a:ext>
            </a:extLst>
          </p:cNvPr>
          <p:cNvSpPr/>
          <p:nvPr/>
        </p:nvSpPr>
        <p:spPr>
          <a:xfrm>
            <a:off x="612648" y="651052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900" dirty="0">
                <a:solidFill>
                  <a:srgbClr val="B5C5D8"/>
                </a:solidFill>
              </a:rPr>
              <a:t>KALÓRIANAPLÓ</a:t>
            </a:r>
            <a:r>
              <a:rPr lang="en-US" sz="900" dirty="0">
                <a:solidFill>
                  <a:srgbClr val="B5C5D8"/>
                </a:solidFill>
              </a:rPr>
              <a:t>  •  Szoftverfejlesztés mérnököknek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5000">
        <p14:prism/>
        <p:sndAc>
          <p:stSnd>
            <p:snd r:embed="rId3" name="Concrete_scrape_loop.wav"/>
          </p:stSnd>
        </p:sndAc>
      </p:transition>
    </mc:Choice>
    <mc:Fallback xmlns="">
      <p:transition spd="slow">
        <p:fade/>
        <p:sndAc>
          <p:stSnd>
            <p:snd r:embed="rId4" name="Concrete_scrape_loop.wav"/>
          </p:stSnd>
        </p:sndAc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r>
              <a:rPr lang="hu-HU" sz="29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.</a:t>
            </a:r>
            <a:r>
              <a:rPr lang="en-US" sz="29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 Projektcél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536192"/>
            <a:ext cx="10972800" cy="0"/>
          </a:xfrm>
          <a:prstGeom prst="line">
            <a:avLst/>
          </a:prstGeom>
          <a:noFill/>
          <a:ln w="25400">
            <a:solidFill>
              <a:srgbClr val="49D6AD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685800" y="1920240"/>
            <a:ext cx="5212080" cy="3291840"/>
          </a:xfrm>
          <a:prstGeom prst="roundRect">
            <a:avLst>
              <a:gd name="adj" fmla="val 4167"/>
            </a:avLst>
          </a:prstGeom>
          <a:solidFill>
            <a:srgbClr val="162238"/>
          </a:solidFill>
          <a:ln w="12700">
            <a:solidFill>
              <a:srgbClr val="2D405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896112" y="2121408"/>
            <a:ext cx="4791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900" b="1" dirty="0">
                <a:solidFill>
                  <a:srgbClr val="49D6AD"/>
                </a:solidFill>
              </a:rPr>
              <a:t>Amiket mindenképpen benne szeretnénk tudni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96112" y="2633472"/>
            <a:ext cx="4791456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7FAFC"/>
                </a:solidFill>
              </a:rPr>
              <a:t>Felhasználói profil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7FAFC"/>
                </a:solidFill>
              </a:rPr>
              <a:t>Étkezések rögzítése napokra bontva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7FAFC"/>
                </a:solidFill>
              </a:rPr>
              <a:t>Ételek és mennyiségek hozzáadása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7FAFC"/>
                </a:solidFill>
              </a:rPr>
              <a:t>Kalória és makrotápanyagok összesítése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72200" y="1920240"/>
            <a:ext cx="5212080" cy="3291840"/>
          </a:xfrm>
          <a:prstGeom prst="roundRect">
            <a:avLst>
              <a:gd name="adj" fmla="val 4167"/>
            </a:avLst>
          </a:prstGeom>
          <a:solidFill>
            <a:srgbClr val="162238"/>
          </a:solidFill>
          <a:ln w="12700">
            <a:solidFill>
              <a:srgbClr val="2D405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6382512" y="2121408"/>
            <a:ext cx="4791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49D6AD"/>
                </a:solidFill>
              </a:rPr>
              <a:t>Ami</a:t>
            </a:r>
            <a:r>
              <a:rPr lang="hu-HU" sz="1900" b="1" dirty="0" err="1">
                <a:solidFill>
                  <a:srgbClr val="49D6AD"/>
                </a:solidFill>
              </a:rPr>
              <a:t>kben</a:t>
            </a:r>
            <a:r>
              <a:rPr lang="hu-HU" sz="1900" b="1" dirty="0">
                <a:solidFill>
                  <a:srgbClr val="49D6AD"/>
                </a:solidFill>
              </a:rPr>
              <a:t> </a:t>
            </a:r>
            <a:r>
              <a:rPr lang="en-US" sz="1900" b="1" dirty="0" err="1">
                <a:solidFill>
                  <a:srgbClr val="49D6AD"/>
                </a:solidFill>
              </a:rPr>
              <a:t>első</a:t>
            </a:r>
            <a:r>
              <a:rPr lang="en-US" sz="1900" b="1" dirty="0">
                <a:solidFill>
                  <a:srgbClr val="49D6AD"/>
                </a:solidFill>
              </a:rPr>
              <a:t> </a:t>
            </a:r>
            <a:r>
              <a:rPr lang="en-US" sz="1900" b="1" dirty="0" err="1">
                <a:solidFill>
                  <a:srgbClr val="49D6AD"/>
                </a:solidFill>
              </a:rPr>
              <a:t>körben</a:t>
            </a:r>
            <a:r>
              <a:rPr lang="en-US" sz="1900" b="1" dirty="0">
                <a:solidFill>
                  <a:srgbClr val="49D6AD"/>
                </a:solidFill>
              </a:rPr>
              <a:t> </a:t>
            </a:r>
            <a:r>
              <a:rPr lang="hu-HU" sz="1900" b="1" dirty="0">
                <a:solidFill>
                  <a:srgbClr val="49D6AD"/>
                </a:solidFill>
              </a:rPr>
              <a:t>nem vagyunk biztosak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382512" y="2633472"/>
            <a:ext cx="4791456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hu-HU" sz="1500" dirty="0">
                <a:solidFill>
                  <a:srgbClr val="F7FAFC"/>
                </a:solidFill>
              </a:rPr>
              <a:t>Étkezési kategóriákra való lebontás (reggeli, ebéd, vacsora)</a:t>
            </a:r>
          </a:p>
          <a:p>
            <a:pPr marL="0" indent="0">
              <a:buNone/>
            </a:pPr>
            <a:r>
              <a:rPr lang="hu-HU" sz="1500" dirty="0">
                <a:solidFill>
                  <a:srgbClr val="F7FAFC"/>
                </a:solidFill>
              </a:rPr>
              <a:t>Étkezés elemeinek módosítása</a:t>
            </a:r>
          </a:p>
          <a:p>
            <a:pPr marL="0" indent="0">
              <a:buNone/>
            </a:pPr>
            <a:r>
              <a:rPr lang="hu-HU" sz="1500" dirty="0">
                <a:solidFill>
                  <a:srgbClr val="F7FAFC"/>
                </a:solidFill>
              </a:rPr>
              <a:t>Regisztrált felhasználó törlése</a:t>
            </a:r>
          </a:p>
          <a:p>
            <a:pPr marL="0" indent="0">
              <a:buNone/>
            </a:pPr>
            <a:r>
              <a:rPr lang="hu-HU" sz="1500" dirty="0">
                <a:solidFill>
                  <a:srgbClr val="F7FAFC"/>
                </a:solidFill>
              </a:rPr>
              <a:t>Teljes mértékben felhasználóbarát UI</a:t>
            </a:r>
          </a:p>
          <a:p>
            <a:pPr marL="0" indent="0">
              <a:buNone/>
            </a:pPr>
            <a:r>
              <a:rPr lang="hu-HU" sz="1500" dirty="0">
                <a:solidFill>
                  <a:srgbClr val="F7FAFC"/>
                </a:solidFill>
              </a:rPr>
              <a:t>Havi / napi visszajelzés</a:t>
            </a:r>
          </a:p>
          <a:p>
            <a:pPr marL="0" indent="0">
              <a:buNone/>
            </a:pP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155680" y="64922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5C5D8"/>
                </a:solidFill>
              </a:rPr>
              <a:t>03</a:t>
            </a:r>
            <a:endParaRPr lang="en-US" sz="1000" dirty="0"/>
          </a:p>
        </p:txBody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6B99087C-909F-8925-7BE8-E5B2FBC4A2FB}"/>
              </a:ext>
            </a:extLst>
          </p:cNvPr>
          <p:cNvSpPr/>
          <p:nvPr/>
        </p:nvSpPr>
        <p:spPr>
          <a:xfrm>
            <a:off x="612648" y="651052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900" dirty="0">
                <a:solidFill>
                  <a:srgbClr val="B5C5D8"/>
                </a:solidFill>
              </a:rPr>
              <a:t>KALÓRIANAPLÓ</a:t>
            </a:r>
            <a:r>
              <a:rPr lang="en-US" sz="900" dirty="0">
                <a:solidFill>
                  <a:srgbClr val="B5C5D8"/>
                </a:solidFill>
              </a:rPr>
              <a:t>  •  Szoftverfejlesztés mérnököknek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r>
              <a:rPr lang="hu-HU" sz="29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.</a:t>
            </a:r>
            <a:r>
              <a:rPr lang="en-US" sz="29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 Célcsoport és használat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12648" y="1033272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5C5D8"/>
                </a:solidFill>
              </a:rPr>
              <a:t>Kinek és milyen helyzetben hasznos?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" y="1536192"/>
            <a:ext cx="10972800" cy="0"/>
          </a:xfrm>
          <a:prstGeom prst="line">
            <a:avLst/>
          </a:prstGeom>
          <a:noFill/>
          <a:ln w="25400">
            <a:solidFill>
              <a:srgbClr val="49D6AD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685800" y="1965960"/>
            <a:ext cx="5212080" cy="3108960"/>
          </a:xfrm>
          <a:prstGeom prst="roundRect">
            <a:avLst>
              <a:gd name="adj" fmla="val 4412"/>
            </a:avLst>
          </a:prstGeom>
          <a:solidFill>
            <a:srgbClr val="162238"/>
          </a:solidFill>
          <a:ln w="12700">
            <a:solidFill>
              <a:srgbClr val="2D405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896112" y="2167128"/>
            <a:ext cx="4791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49D6AD"/>
                </a:solidFill>
              </a:rPr>
              <a:t>Célcsoport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96112" y="2679192"/>
            <a:ext cx="479145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7FAFC"/>
                </a:solidFill>
              </a:rPr>
              <a:t>Tudatosabban étkező felhasználók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7FAFC"/>
                </a:solidFill>
              </a:rPr>
              <a:t>Fogyni vagy </a:t>
            </a:r>
            <a:r>
              <a:rPr lang="hu-HU" sz="1500" dirty="0">
                <a:solidFill>
                  <a:srgbClr val="F7FAFC"/>
                </a:solidFill>
              </a:rPr>
              <a:t>tömegelni akarók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7FAFC"/>
                </a:solidFill>
              </a:rPr>
              <a:t>Egyszerű naplózást keresők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72200" y="1965960"/>
            <a:ext cx="5212080" cy="3108960"/>
          </a:xfrm>
          <a:prstGeom prst="roundRect">
            <a:avLst>
              <a:gd name="adj" fmla="val 4412"/>
            </a:avLst>
          </a:prstGeom>
          <a:solidFill>
            <a:srgbClr val="162238"/>
          </a:solidFill>
          <a:ln w="12700">
            <a:solidFill>
              <a:srgbClr val="2D405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6382512" y="2167128"/>
            <a:ext cx="4791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49D6AD"/>
                </a:solidFill>
              </a:rPr>
              <a:t>Tipikus példa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382512" y="2679192"/>
            <a:ext cx="479145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7FAFC"/>
                </a:solidFill>
              </a:rPr>
              <a:t>A felhasználó megnyitja a</a:t>
            </a:r>
            <a:r>
              <a:rPr lang="hu-HU" sz="1500" dirty="0">
                <a:solidFill>
                  <a:srgbClr val="F7FAFC"/>
                </a:solidFill>
              </a:rPr>
              <a:t>z alkalmazást étkezés előtt / után. </a:t>
            </a:r>
          </a:p>
          <a:p>
            <a:pPr marL="0" indent="0">
              <a:buNone/>
            </a:pPr>
            <a:r>
              <a:rPr lang="hu-HU" sz="1500" dirty="0">
                <a:solidFill>
                  <a:srgbClr val="F7FAFC"/>
                </a:solidFill>
              </a:rPr>
              <a:t>Hozzáadja az étkezését az akkori naphoz. Majd az alkalmazás összesíti az aznapi étkezés során elfogyasztott összes tápanyagot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155680" y="64922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5C5D8"/>
                </a:solidFill>
              </a:rPr>
              <a:t>04</a:t>
            </a:r>
            <a:endParaRPr lang="en-US" sz="1000" dirty="0"/>
          </a:p>
        </p:txBody>
      </p:sp>
      <p:sp>
        <p:nvSpPr>
          <p:cNvPr id="14" name="Text 4">
            <a:extLst>
              <a:ext uri="{FF2B5EF4-FFF2-40B4-BE49-F238E27FC236}">
                <a16:creationId xmlns:a16="http://schemas.microsoft.com/office/drawing/2014/main" id="{4E372346-E817-9A00-E5B7-2AF2A943855C}"/>
              </a:ext>
            </a:extLst>
          </p:cNvPr>
          <p:cNvSpPr/>
          <p:nvPr/>
        </p:nvSpPr>
        <p:spPr>
          <a:xfrm>
            <a:off x="612648" y="651052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900" dirty="0">
                <a:solidFill>
                  <a:srgbClr val="B5C5D8"/>
                </a:solidFill>
              </a:rPr>
              <a:t>KALÓRIANAPLÓ</a:t>
            </a:r>
            <a:r>
              <a:rPr lang="en-US" sz="900" dirty="0">
                <a:solidFill>
                  <a:srgbClr val="B5C5D8"/>
                </a:solidFill>
              </a:rPr>
              <a:t>  •  Szoftverfejlesztés mérnököknek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r>
              <a:rPr lang="hu-HU" sz="29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.</a:t>
            </a:r>
            <a:r>
              <a:rPr lang="en-US" sz="29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 Fő funkciók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12648" y="1033272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5C5D8"/>
                </a:solidFill>
              </a:rPr>
              <a:t>Az alkalmazás alapvető képességei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" y="1536192"/>
            <a:ext cx="10972800" cy="0"/>
          </a:xfrm>
          <a:prstGeom prst="line">
            <a:avLst/>
          </a:prstGeom>
          <a:noFill/>
          <a:ln w="25400">
            <a:solidFill>
              <a:srgbClr val="49D6AD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685800" y="1874520"/>
            <a:ext cx="3474720" cy="3337560"/>
          </a:xfrm>
          <a:prstGeom prst="roundRect">
            <a:avLst>
              <a:gd name="adj" fmla="val 4110"/>
            </a:avLst>
          </a:prstGeom>
          <a:solidFill>
            <a:srgbClr val="162238"/>
          </a:solidFill>
          <a:ln w="12700">
            <a:solidFill>
              <a:srgbClr val="2D405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896112" y="2075688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49D6AD"/>
                </a:solidFill>
              </a:rPr>
              <a:t>Profil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96112" y="2587752"/>
            <a:ext cx="3054096" cy="2478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7FAFC"/>
                </a:solidFill>
              </a:rPr>
              <a:t>Név, magasság, testsúly, életkor, nem és cél megadása.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43400" y="1874520"/>
            <a:ext cx="3474720" cy="3337560"/>
          </a:xfrm>
          <a:prstGeom prst="roundRect">
            <a:avLst>
              <a:gd name="adj" fmla="val 4110"/>
            </a:avLst>
          </a:prstGeom>
          <a:solidFill>
            <a:srgbClr val="162238"/>
          </a:solidFill>
          <a:ln w="12700">
            <a:solidFill>
              <a:srgbClr val="2D405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4553712" y="2075688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49D6AD"/>
                </a:solidFill>
              </a:rPr>
              <a:t>Étkezésnapló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53712" y="2587752"/>
            <a:ext cx="3054096" cy="2478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 err="1">
                <a:solidFill>
                  <a:srgbClr val="F7FAFC"/>
                </a:solidFill>
              </a:rPr>
              <a:t>Dátum</a:t>
            </a:r>
            <a:r>
              <a:rPr lang="en-US" sz="1500" dirty="0">
                <a:solidFill>
                  <a:srgbClr val="F7FAFC"/>
                </a:solidFill>
              </a:rPr>
              <a:t>; ételek mennyiségének kezelése.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01000" y="1874520"/>
            <a:ext cx="3474720" cy="3337560"/>
          </a:xfrm>
          <a:prstGeom prst="roundRect">
            <a:avLst>
              <a:gd name="adj" fmla="val 4110"/>
            </a:avLst>
          </a:prstGeom>
          <a:solidFill>
            <a:srgbClr val="162238"/>
          </a:solidFill>
          <a:ln w="12700">
            <a:solidFill>
              <a:srgbClr val="2D405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8211312" y="2075688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49D6AD"/>
                </a:solidFill>
              </a:rPr>
              <a:t>Összesítés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211312" y="2587752"/>
            <a:ext cx="3054096" cy="2478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7FAFC"/>
                </a:solidFill>
              </a:rPr>
              <a:t>Napi kalória, fehérje, zsír és szénhidrát kiszámítása.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155680" y="64922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5C5D8"/>
                </a:solidFill>
              </a:rPr>
              <a:t>05</a:t>
            </a:r>
            <a:endParaRPr lang="en-US" sz="1000" dirty="0"/>
          </a:p>
        </p:txBody>
      </p:sp>
      <p:sp>
        <p:nvSpPr>
          <p:cNvPr id="17" name="Text 4">
            <a:extLst>
              <a:ext uri="{FF2B5EF4-FFF2-40B4-BE49-F238E27FC236}">
                <a16:creationId xmlns:a16="http://schemas.microsoft.com/office/drawing/2014/main" id="{C417BBA1-A02B-1895-C09B-5B545D43776F}"/>
              </a:ext>
            </a:extLst>
          </p:cNvPr>
          <p:cNvSpPr/>
          <p:nvPr/>
        </p:nvSpPr>
        <p:spPr>
          <a:xfrm>
            <a:off x="612648" y="651052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900" dirty="0">
                <a:solidFill>
                  <a:srgbClr val="B5C5D8"/>
                </a:solidFill>
              </a:rPr>
              <a:t>KALÓRIANAPLÓ</a:t>
            </a:r>
            <a:r>
              <a:rPr lang="en-US" sz="900" dirty="0">
                <a:solidFill>
                  <a:srgbClr val="B5C5D8"/>
                </a:solidFill>
              </a:rPr>
              <a:t>  •  Szoftverfejlesztés mérnököknek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r>
              <a:rPr lang="hu-HU" sz="29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.</a:t>
            </a:r>
            <a:r>
              <a:rPr lang="en-US" sz="29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 Felhasználói folyamat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12648" y="1033272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5C5D8"/>
                </a:solidFill>
              </a:rPr>
              <a:t>A naplózás lépései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" y="1536192"/>
            <a:ext cx="10972800" cy="0"/>
          </a:xfrm>
          <a:prstGeom prst="line">
            <a:avLst/>
          </a:prstGeom>
          <a:noFill/>
          <a:ln w="25400">
            <a:solidFill>
              <a:srgbClr val="49D6AD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502920" y="2423160"/>
            <a:ext cx="2057400" cy="1325880"/>
          </a:xfrm>
          <a:prstGeom prst="roundRect">
            <a:avLst>
              <a:gd name="adj" fmla="val 8276"/>
            </a:avLst>
          </a:prstGeom>
          <a:solidFill>
            <a:srgbClr val="162238"/>
          </a:solidFill>
          <a:ln w="17780">
            <a:solidFill>
              <a:srgbClr val="49D6AD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621792" y="26517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AFC"/>
                </a:solidFill>
              </a:rPr>
              <a:t>01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7FAFC"/>
                </a:solidFill>
              </a:rPr>
              <a:t>Profil létrehozása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569464" y="2852928"/>
            <a:ext cx="256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49D6AD"/>
                </a:solidFill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834640" y="2423160"/>
            <a:ext cx="2057400" cy="1325880"/>
          </a:xfrm>
          <a:prstGeom prst="roundRect">
            <a:avLst>
              <a:gd name="adj" fmla="val 8276"/>
            </a:avLst>
          </a:prstGeom>
          <a:solidFill>
            <a:srgbClr val="162238"/>
          </a:solidFill>
          <a:ln w="17780">
            <a:solidFill>
              <a:srgbClr val="49D6AD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2953512" y="26517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AFC"/>
                </a:solidFill>
              </a:rPr>
              <a:t>02</a:t>
            </a:r>
            <a:endParaRPr lang="en-US" sz="1600" dirty="0"/>
          </a:p>
          <a:p>
            <a:pPr marL="0" indent="0" algn="ctr">
              <a:buNone/>
            </a:pPr>
            <a:r>
              <a:rPr lang="hu-HU" sz="1600" b="1" dirty="0">
                <a:solidFill>
                  <a:srgbClr val="F7FAFC"/>
                </a:solidFill>
              </a:rPr>
              <a:t>Nap kiválasztása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01184" y="2852928"/>
            <a:ext cx="256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49D6AD"/>
                </a:solidFill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166360" y="2423160"/>
            <a:ext cx="2057400" cy="1325880"/>
          </a:xfrm>
          <a:prstGeom prst="roundRect">
            <a:avLst>
              <a:gd name="adj" fmla="val 8276"/>
            </a:avLst>
          </a:prstGeom>
          <a:solidFill>
            <a:srgbClr val="162238"/>
          </a:solidFill>
          <a:ln w="17780">
            <a:solidFill>
              <a:srgbClr val="49D6AD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5285232" y="26517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AFC"/>
                </a:solidFill>
              </a:rPr>
              <a:t>03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7FAFC"/>
                </a:solidFill>
              </a:rPr>
              <a:t>Étkezés megadása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232904" y="2852928"/>
            <a:ext cx="256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49D6AD"/>
                </a:solidFill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98080" y="2423160"/>
            <a:ext cx="2057400" cy="1325880"/>
          </a:xfrm>
          <a:prstGeom prst="roundRect">
            <a:avLst>
              <a:gd name="adj" fmla="val 8276"/>
            </a:avLst>
          </a:prstGeom>
          <a:solidFill>
            <a:srgbClr val="162238"/>
          </a:solidFill>
          <a:ln w="17780">
            <a:solidFill>
              <a:srgbClr val="49D6AD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Text 13"/>
          <p:cNvSpPr/>
          <p:nvPr/>
        </p:nvSpPr>
        <p:spPr>
          <a:xfrm>
            <a:off x="7616952" y="26517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AFC"/>
                </a:solidFill>
              </a:rPr>
              <a:t>04</a:t>
            </a:r>
            <a:endParaRPr lang="en-US" sz="1600" dirty="0"/>
          </a:p>
          <a:p>
            <a:pPr marL="0" indent="0" algn="ctr">
              <a:buNone/>
            </a:pPr>
            <a:r>
              <a:rPr lang="hu-HU" sz="1600" b="1" dirty="0">
                <a:solidFill>
                  <a:srgbClr val="F7FAFC"/>
                </a:solidFill>
              </a:rPr>
              <a:t>Tápanyagok rögzítése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564624" y="2852928"/>
            <a:ext cx="256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49D6AD"/>
                </a:solidFill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829800" y="2423160"/>
            <a:ext cx="2057400" cy="1325880"/>
          </a:xfrm>
          <a:prstGeom prst="roundRect">
            <a:avLst>
              <a:gd name="adj" fmla="val 8276"/>
            </a:avLst>
          </a:prstGeom>
          <a:solidFill>
            <a:srgbClr val="162238"/>
          </a:solidFill>
          <a:ln w="17780">
            <a:solidFill>
              <a:srgbClr val="49D6AD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Text 16"/>
          <p:cNvSpPr/>
          <p:nvPr/>
        </p:nvSpPr>
        <p:spPr>
          <a:xfrm>
            <a:off x="9948672" y="26517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AFC"/>
                </a:solidFill>
              </a:rPr>
              <a:t>05</a:t>
            </a:r>
            <a:endParaRPr lang="en-US" sz="1600" dirty="0"/>
          </a:p>
          <a:p>
            <a:pPr marL="0" indent="0" algn="ctr">
              <a:buNone/>
            </a:pPr>
            <a:r>
              <a:rPr lang="hu-HU" sz="1600" b="1" dirty="0">
                <a:solidFill>
                  <a:srgbClr val="F7FAFC"/>
                </a:solidFill>
              </a:rPr>
              <a:t>Napi</a:t>
            </a:r>
            <a:r>
              <a:rPr lang="en-US" sz="1600" b="1" dirty="0">
                <a:solidFill>
                  <a:srgbClr val="F7FAFC"/>
                </a:solidFill>
              </a:rPr>
              <a:t> összesítés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1155680" y="64922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5C5D8"/>
                </a:solidFill>
              </a:rPr>
              <a:t>06</a:t>
            </a:r>
            <a:endParaRPr lang="en-US" sz="1000" dirty="0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D530BD5E-5E51-41DC-B035-7FF72BD120B1}"/>
              </a:ext>
            </a:extLst>
          </p:cNvPr>
          <p:cNvSpPr/>
          <p:nvPr/>
        </p:nvSpPr>
        <p:spPr>
          <a:xfrm>
            <a:off x="612648" y="651052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900" dirty="0">
                <a:solidFill>
                  <a:srgbClr val="B5C5D8"/>
                </a:solidFill>
              </a:rPr>
              <a:t>KALÓRIANAPLÓ</a:t>
            </a:r>
            <a:r>
              <a:rPr lang="en-US" sz="900" dirty="0">
                <a:solidFill>
                  <a:srgbClr val="B5C5D8"/>
                </a:solidFill>
              </a:rPr>
              <a:t>  •  Szoftverfejlesztés mérnököknek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Kép 9">
            <a:extLst>
              <a:ext uri="{FF2B5EF4-FFF2-40B4-BE49-F238E27FC236}">
                <a16:creationId xmlns:a16="http://schemas.microsoft.com/office/drawing/2014/main" id="{861A6420-97A0-9FB5-6095-3282C2C76D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4728" y="1033272"/>
            <a:ext cx="5168632" cy="5258594"/>
          </a:xfrm>
          <a:prstGeom prst="rect">
            <a:avLst/>
          </a:prstGeom>
        </p:spPr>
      </p:pic>
      <p:sp>
        <p:nvSpPr>
          <p:cNvPr id="14" name="Text 0">
            <a:extLst>
              <a:ext uri="{FF2B5EF4-FFF2-40B4-BE49-F238E27FC236}">
                <a16:creationId xmlns:a16="http://schemas.microsoft.com/office/drawing/2014/main" id="{AA326615-3B03-12E8-EDB9-6F9BA6832FD6}"/>
              </a:ext>
            </a:extLst>
          </p:cNvPr>
          <p:cNvSpPr/>
          <p:nvPr/>
        </p:nvSpPr>
        <p:spPr>
          <a:xfrm>
            <a:off x="594360" y="41148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2900" b="1" dirty="0">
                <a:latin typeface="Aptos Display" pitchFamily="34" charset="0"/>
              </a:rPr>
              <a:t>6. Adatbázis felépítése</a:t>
            </a:r>
            <a:endParaRPr lang="en-US" sz="2900" dirty="0"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05B72E95-6816-A239-46DE-6864DAEACED6}"/>
              </a:ext>
            </a:extLst>
          </p:cNvPr>
          <p:cNvSpPr/>
          <p:nvPr/>
        </p:nvSpPr>
        <p:spPr>
          <a:xfrm>
            <a:off x="612648" y="1033272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8" name="Shape 2">
            <a:extLst>
              <a:ext uri="{FF2B5EF4-FFF2-40B4-BE49-F238E27FC236}">
                <a16:creationId xmlns:a16="http://schemas.microsoft.com/office/drawing/2014/main" id="{EC329685-5998-8D3F-A370-20D7A4B14CC2}"/>
              </a:ext>
            </a:extLst>
          </p:cNvPr>
          <p:cNvSpPr/>
          <p:nvPr/>
        </p:nvSpPr>
        <p:spPr>
          <a:xfrm>
            <a:off x="594360" y="1005840"/>
            <a:ext cx="10972800" cy="0"/>
          </a:xfrm>
          <a:prstGeom prst="line">
            <a:avLst/>
          </a:prstGeom>
          <a:noFill/>
          <a:ln w="25400">
            <a:solidFill>
              <a:srgbClr val="49D6AD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29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7.</a:t>
            </a:r>
            <a:r>
              <a:rPr lang="en-US" sz="29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 Tesztelés és elvárt eredmény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12648" y="1033272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5C5D8"/>
                </a:solidFill>
              </a:rPr>
              <a:t>Honnan tudjuk, hogy az MVP elkészült?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" y="1536192"/>
            <a:ext cx="10972800" cy="0"/>
          </a:xfrm>
          <a:prstGeom prst="line">
            <a:avLst/>
          </a:prstGeom>
          <a:noFill/>
          <a:ln w="25400">
            <a:solidFill>
              <a:srgbClr val="49D6AD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685800" y="1874520"/>
            <a:ext cx="5212080" cy="3429000"/>
          </a:xfrm>
          <a:prstGeom prst="roundRect">
            <a:avLst>
              <a:gd name="adj" fmla="val 4000"/>
            </a:avLst>
          </a:prstGeom>
          <a:solidFill>
            <a:srgbClr val="162238"/>
          </a:solidFill>
          <a:ln w="12700">
            <a:solidFill>
              <a:srgbClr val="2D405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896112" y="2075688"/>
            <a:ext cx="4791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49D6AD"/>
                </a:solidFill>
              </a:rPr>
              <a:t>Elfogadási feltételek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96112" y="2587752"/>
            <a:ext cx="4791456" cy="2569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7FAFC"/>
                </a:solidFill>
              </a:rPr>
              <a:t>A profil adatai menthetők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7FAFC"/>
                </a:solidFill>
              </a:rPr>
              <a:t>Egy naphoz több étkezés rögzíthető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7FAFC"/>
                </a:solidFill>
              </a:rPr>
              <a:t>Egy étkezéshez több étel adható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7FAFC"/>
                </a:solidFill>
              </a:rPr>
              <a:t>A napi összesítés helyesen számol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72200" y="1874520"/>
            <a:ext cx="5212080" cy="3429000"/>
          </a:xfrm>
          <a:prstGeom prst="roundRect">
            <a:avLst>
              <a:gd name="adj" fmla="val 4000"/>
            </a:avLst>
          </a:prstGeom>
          <a:solidFill>
            <a:srgbClr val="162238"/>
          </a:solidFill>
          <a:ln w="12700">
            <a:solidFill>
              <a:srgbClr val="2D405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6382512" y="2075688"/>
            <a:ext cx="4791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49D6AD"/>
                </a:solidFill>
              </a:rPr>
              <a:t>Tesztelési példák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382512" y="2587752"/>
            <a:ext cx="4791456" cy="2569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7FAFC"/>
                </a:solidFill>
              </a:rPr>
              <a:t>Hiányzó kötelező adatok kezelése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7FAFC"/>
                </a:solidFill>
              </a:rPr>
              <a:t>Negatív mennyiség elutasítása</a:t>
            </a:r>
            <a:endParaRPr lang="en-US" sz="1500" dirty="0"/>
          </a:p>
          <a:p>
            <a:pPr marL="0" indent="0">
              <a:buNone/>
            </a:pPr>
            <a:r>
              <a:rPr lang="hu-HU" sz="1500" dirty="0">
                <a:solidFill>
                  <a:srgbClr val="F7FAFC"/>
                </a:solidFill>
              </a:rPr>
              <a:t>Felhasználó </a:t>
            </a:r>
            <a:r>
              <a:rPr lang="en-US" sz="1500" dirty="0">
                <a:solidFill>
                  <a:srgbClr val="F7FAFC"/>
                </a:solidFill>
              </a:rPr>
              <a:t>törlése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7FAFC"/>
                </a:solidFill>
              </a:rPr>
              <a:t>Adatok megfelelő felhasználóhoz rendelése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155680" y="64922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5C5D8"/>
                </a:solidFill>
              </a:rPr>
              <a:t>11</a:t>
            </a:r>
            <a:endParaRPr lang="en-US" sz="1000" dirty="0"/>
          </a:p>
        </p:txBody>
      </p:sp>
      <p:sp>
        <p:nvSpPr>
          <p:cNvPr id="14" name="Text 4">
            <a:extLst>
              <a:ext uri="{FF2B5EF4-FFF2-40B4-BE49-F238E27FC236}">
                <a16:creationId xmlns:a16="http://schemas.microsoft.com/office/drawing/2014/main" id="{18DF0E46-5C87-4FAD-54D6-8ABE1F37845A}"/>
              </a:ext>
            </a:extLst>
          </p:cNvPr>
          <p:cNvSpPr/>
          <p:nvPr/>
        </p:nvSpPr>
        <p:spPr>
          <a:xfrm>
            <a:off x="612648" y="651052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900" dirty="0">
                <a:solidFill>
                  <a:srgbClr val="B5C5D8"/>
                </a:solidFill>
              </a:rPr>
              <a:t>KALÓRIANAPLÓ</a:t>
            </a:r>
            <a:r>
              <a:rPr lang="en-US" sz="900" dirty="0">
                <a:solidFill>
                  <a:srgbClr val="B5C5D8"/>
                </a:solidFill>
              </a:rPr>
              <a:t>  •  Szoftverfejlesztés mérnököknek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29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8.</a:t>
            </a:r>
            <a:r>
              <a:rPr lang="en-US" sz="29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 Továbbfejlesztési lehetőségek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12648" y="1033272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5C5D8"/>
                </a:solidFill>
              </a:rPr>
              <a:t>A jelenlegi projekt később bővíthető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" y="1536192"/>
            <a:ext cx="10972800" cy="0"/>
          </a:xfrm>
          <a:prstGeom prst="line">
            <a:avLst/>
          </a:prstGeom>
          <a:noFill/>
          <a:ln w="25400">
            <a:solidFill>
              <a:srgbClr val="49D6AD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685800" y="1920240"/>
            <a:ext cx="3474720" cy="3154680"/>
          </a:xfrm>
          <a:prstGeom prst="roundRect">
            <a:avLst>
              <a:gd name="adj" fmla="val 4348"/>
            </a:avLst>
          </a:prstGeom>
          <a:solidFill>
            <a:srgbClr val="162238"/>
          </a:solidFill>
          <a:ln w="12700">
            <a:solidFill>
              <a:srgbClr val="2D405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896112" y="2121408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49D6AD"/>
                </a:solidFill>
              </a:rPr>
              <a:t>Statisztikák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96112" y="2633472"/>
            <a:ext cx="3054096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hu-HU" sz="1500" dirty="0">
                <a:solidFill>
                  <a:srgbClr val="F7FAFC"/>
                </a:solidFill>
              </a:rPr>
              <a:t>H</a:t>
            </a:r>
            <a:r>
              <a:rPr lang="en-US" sz="1500" dirty="0">
                <a:solidFill>
                  <a:srgbClr val="F7FAFC"/>
                </a:solidFill>
              </a:rPr>
              <a:t>avi </a:t>
            </a:r>
            <a:r>
              <a:rPr lang="hu-HU" sz="1500" dirty="0">
                <a:solidFill>
                  <a:srgbClr val="F7FAFC"/>
                </a:solidFill>
              </a:rPr>
              <a:t>összesítés</a:t>
            </a:r>
            <a:r>
              <a:rPr lang="en-US" sz="1500" dirty="0">
                <a:solidFill>
                  <a:srgbClr val="F7FAFC"/>
                </a:solidFill>
              </a:rPr>
              <a:t>, fejlődés követése.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474720" cy="3154680"/>
          </a:xfrm>
          <a:prstGeom prst="roundRect">
            <a:avLst>
              <a:gd name="adj" fmla="val 4348"/>
            </a:avLst>
          </a:prstGeom>
          <a:solidFill>
            <a:srgbClr val="162238"/>
          </a:solidFill>
          <a:ln w="12700">
            <a:solidFill>
              <a:srgbClr val="2D405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4553712" y="2121408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49D6AD"/>
                </a:solidFill>
              </a:rPr>
              <a:t>Személyre szabás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53712" y="2633472"/>
            <a:ext cx="3054096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>
                <a:solidFill>
                  <a:srgbClr val="F7FAFC"/>
                </a:solidFill>
              </a:rPr>
              <a:t>Kalóriacélok és ajánlott </a:t>
            </a:r>
            <a:r>
              <a:rPr lang="en-US" sz="1500" dirty="0" err="1">
                <a:solidFill>
                  <a:srgbClr val="F7FAFC"/>
                </a:solidFill>
              </a:rPr>
              <a:t>makrók</a:t>
            </a:r>
            <a:r>
              <a:rPr lang="en-US" sz="1500" dirty="0">
                <a:solidFill>
                  <a:srgbClr val="F7FAFC"/>
                </a:solidFill>
              </a:rPr>
              <a:t> </a:t>
            </a:r>
            <a:r>
              <a:rPr lang="en-US" sz="1500" dirty="0" err="1">
                <a:solidFill>
                  <a:srgbClr val="F7FAFC"/>
                </a:solidFill>
              </a:rPr>
              <a:t>számítása</a:t>
            </a:r>
            <a:r>
              <a:rPr lang="hu-HU" sz="1500" dirty="0">
                <a:solidFill>
                  <a:srgbClr val="F7FAFC"/>
                </a:solidFill>
              </a:rPr>
              <a:t>, naplózott tételek módosítása</a:t>
            </a:r>
            <a:r>
              <a:rPr lang="en-US" sz="1500" dirty="0">
                <a:solidFill>
                  <a:srgbClr val="F7FAFC"/>
                </a:solidFill>
              </a:rPr>
              <a:t>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01000" y="1920240"/>
            <a:ext cx="3474720" cy="3154680"/>
          </a:xfrm>
          <a:prstGeom prst="roundRect">
            <a:avLst>
              <a:gd name="adj" fmla="val 4348"/>
            </a:avLst>
          </a:prstGeom>
          <a:solidFill>
            <a:srgbClr val="162238"/>
          </a:solidFill>
          <a:ln w="12700">
            <a:solidFill>
              <a:srgbClr val="2D405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8211312" y="2121408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49D6AD"/>
                </a:solidFill>
              </a:rPr>
              <a:t>Kényelmi funkciók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211312" y="2633472"/>
            <a:ext cx="3054096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hu-HU" sz="1500" dirty="0">
                <a:solidFill>
                  <a:srgbClr val="F7FAFC"/>
                </a:solidFill>
              </a:rPr>
              <a:t>Előzőleg megadott ételek </a:t>
            </a:r>
            <a:r>
              <a:rPr lang="en-US" sz="1500" dirty="0" err="1">
                <a:solidFill>
                  <a:srgbClr val="F7FAFC"/>
                </a:solidFill>
              </a:rPr>
              <a:t>keresés</a:t>
            </a:r>
            <a:r>
              <a:rPr lang="hu-HU" sz="1500" dirty="0">
                <a:solidFill>
                  <a:srgbClr val="F7FAFC"/>
                </a:solidFill>
              </a:rPr>
              <a:t>e</a:t>
            </a:r>
            <a:r>
              <a:rPr lang="en-US" sz="1500" dirty="0">
                <a:solidFill>
                  <a:srgbClr val="F7FAFC"/>
                </a:solidFill>
              </a:rPr>
              <a:t>,</a:t>
            </a:r>
            <a:r>
              <a:rPr lang="hu-HU" sz="1500" dirty="0">
                <a:solidFill>
                  <a:srgbClr val="F7FAFC"/>
                </a:solidFill>
              </a:rPr>
              <a:t> gyakran hozzáadott ételek </a:t>
            </a:r>
            <a:r>
              <a:rPr lang="hu-HU" sz="1500" dirty="0" err="1">
                <a:solidFill>
                  <a:srgbClr val="F7FAFC"/>
                </a:solidFill>
              </a:rPr>
              <a:t>felajnálása</a:t>
            </a:r>
            <a:r>
              <a:rPr lang="hu-HU" sz="1500" dirty="0">
                <a:solidFill>
                  <a:srgbClr val="F7FAFC"/>
                </a:solidFill>
              </a:rPr>
              <a:t>, felhasználói felület egyszerűsítése és </a:t>
            </a:r>
            <a:r>
              <a:rPr lang="hu-HU" sz="1500">
                <a:solidFill>
                  <a:srgbClr val="F7FAFC"/>
                </a:solidFill>
              </a:rPr>
              <a:t>átláthatóbbá tétele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155680" y="64922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5C5D8"/>
                </a:solidFill>
              </a:rPr>
              <a:t>12</a:t>
            </a:r>
            <a:endParaRPr lang="en-US" sz="1000" dirty="0"/>
          </a:p>
        </p:txBody>
      </p:sp>
      <p:sp>
        <p:nvSpPr>
          <p:cNvPr id="17" name="Text 4">
            <a:extLst>
              <a:ext uri="{FF2B5EF4-FFF2-40B4-BE49-F238E27FC236}">
                <a16:creationId xmlns:a16="http://schemas.microsoft.com/office/drawing/2014/main" id="{6EF08C7E-C8D6-2E66-6694-22991EC72613}"/>
              </a:ext>
            </a:extLst>
          </p:cNvPr>
          <p:cNvSpPr/>
          <p:nvPr/>
        </p:nvSpPr>
        <p:spPr>
          <a:xfrm>
            <a:off x="612648" y="651052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900" dirty="0">
                <a:solidFill>
                  <a:srgbClr val="B5C5D8"/>
                </a:solidFill>
              </a:rPr>
              <a:t>KALÓRIANAPLÓ</a:t>
            </a:r>
            <a:r>
              <a:rPr lang="en-US" sz="900" dirty="0">
                <a:solidFill>
                  <a:srgbClr val="B5C5D8"/>
                </a:solidFill>
              </a:rPr>
              <a:t>  •  Szoftverfejlesztés mérnököknek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29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9.</a:t>
            </a:r>
            <a:r>
              <a:rPr lang="en-US" sz="29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 Összefoglalás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12648" y="1033272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5C5D8"/>
                </a:solidFill>
              </a:rPr>
              <a:t>Kicsi, jól körülhatárolt, megvalósítható projekt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" y="1536192"/>
            <a:ext cx="10972800" cy="0"/>
          </a:xfrm>
          <a:prstGeom prst="line">
            <a:avLst/>
          </a:prstGeom>
          <a:noFill/>
          <a:ln w="25400">
            <a:solidFill>
              <a:srgbClr val="49D6AD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10241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F7FAFC"/>
                </a:solidFill>
              </a:rPr>
              <a:t>Egy </a:t>
            </a:r>
            <a:r>
              <a:rPr lang="en-US" sz="2900" b="1" dirty="0" err="1">
                <a:solidFill>
                  <a:srgbClr val="F7FAFC"/>
                </a:solidFill>
              </a:rPr>
              <a:t>egyszerű</a:t>
            </a:r>
            <a:r>
              <a:rPr lang="en-US" sz="2900" b="1" dirty="0">
                <a:solidFill>
                  <a:srgbClr val="F7FAFC"/>
                </a:solidFill>
              </a:rPr>
              <a:t> étkezésnapló, amely a legfontosabb funkciókra koncentrál: rögzítés, rendszerezés, összesítés.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1097280" y="4800600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dirty="0">
                <a:solidFill>
                  <a:srgbClr val="49D6AD"/>
                </a:solidFill>
              </a:rPr>
              <a:t>Köszönjük a </a:t>
            </a:r>
            <a:r>
              <a:rPr lang="en-US" sz="2500" dirty="0" err="1">
                <a:solidFill>
                  <a:srgbClr val="49D6AD"/>
                </a:solidFill>
              </a:rPr>
              <a:t>figyelmet</a:t>
            </a:r>
            <a:r>
              <a:rPr lang="en-US" sz="2500" dirty="0">
                <a:solidFill>
                  <a:srgbClr val="49D6AD"/>
                </a:solidFill>
              </a:rPr>
              <a:t>!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11155680" y="64922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5C5D8"/>
                </a:solidFill>
              </a:rPr>
              <a:t>13</a:t>
            </a:r>
            <a:endParaRPr lang="en-US" sz="1000" dirty="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55AFC51C-7207-23B1-1DBE-D1A88722BE59}"/>
              </a:ext>
            </a:extLst>
          </p:cNvPr>
          <p:cNvSpPr/>
          <p:nvPr/>
        </p:nvSpPr>
        <p:spPr>
          <a:xfrm>
            <a:off x="612648" y="651052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900" dirty="0">
                <a:solidFill>
                  <a:srgbClr val="B5C5D8"/>
                </a:solidFill>
              </a:rPr>
              <a:t>KALÓRIANAPLÓ</a:t>
            </a:r>
            <a:r>
              <a:rPr lang="en-US" sz="900" dirty="0">
                <a:solidFill>
                  <a:srgbClr val="B5C5D8"/>
                </a:solidFill>
              </a:rPr>
              <a:t>  •  Szoftverfejlesztés mérnököknek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</TotalTime>
  <Words>425</Words>
  <Application>Microsoft Office PowerPoint</Application>
  <PresentationFormat>Szélesvásznú</PresentationFormat>
  <Paragraphs>110</Paragraphs>
  <Slides>10</Slides>
  <Notes>10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10</vt:i4>
      </vt:variant>
    </vt:vector>
  </HeadingPairs>
  <TitlesOfParts>
    <vt:vector size="13" baseType="lpstr">
      <vt:lpstr>Aptos Display</vt:lpstr>
      <vt:lpstr>Arial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Kalória- és étkezésnaplózó alkalmazás</dc:subject>
  <dc:creator>Projektcsapat</dc:creator>
  <cp:lastModifiedBy>Ádám Máté</cp:lastModifiedBy>
  <cp:revision>24</cp:revision>
  <dcterms:created xsi:type="dcterms:W3CDTF">2026-10-22T13:52:19Z</dcterms:created>
  <dcterms:modified xsi:type="dcterms:W3CDTF">2026-10-28T17:19:15Z</dcterms:modified>
</cp:coreProperties>
</file>